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74320"/>
            <a:ext cx="301752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100" b="1">
                <a:solidFill>
                  <a:srgbClr val="0042B4"/>
                </a:solidFill>
                <a:latin typeface="Noto Sans CJK SC"/>
              </a:rPr>
              <a:t>当前研究成果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786384"/>
            <a:ext cx="3337560" cy="402336"/>
          </a:xfrm>
          <a:prstGeom prst="round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859536"/>
            <a:ext cx="33375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</a:rPr>
              <a:t>论文与集成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1261872"/>
            <a:ext cx="3337560" cy="5102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发表论文2篇（SC2026），其中1篇已成功集成到 vllm-hust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93392"/>
            <a:ext cx="274320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前述9个技术点有7个已经成功集成到 vllm-hust / vllm-ascend-hust，并显著提高整体性能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61488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43200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撰写《面向国产算力推理引擎综述》篇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91840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73552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撰写《中兴通讯技术》邀请稿1篇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822191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03904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获批举办第1届 StateSys workshop（w/ ATC 2026）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5833872"/>
            <a:ext cx="3017520" cy="310896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907024"/>
            <a:ext cx="2834640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780" b="1">
                <a:solidFill>
                  <a:srgbClr val="004C8C"/>
                </a:solidFill>
                <a:latin typeface="Noto Sans CJK SC"/>
              </a:rPr>
              <a:t>核心叙事：从“能跑”走向“可比、可解释、可持续优化”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13632" y="530352"/>
            <a:ext cx="7882127" cy="420624"/>
          </a:xfrm>
          <a:prstGeom prst="roundRect">
            <a:avLst/>
          </a:prstGeom>
          <a:solidFill>
            <a:srgbClr val="B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621792"/>
            <a:ext cx="7882127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Noto Sans CJK SC"/>
              </a:rPr>
              <a:t>性能排行榜展示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1060704"/>
            <a:ext cx="7882127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aregpt_stor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225296"/>
            <a:ext cx="7498079" cy="448056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224528" y="5806440"/>
            <a:ext cx="2240280" cy="310896"/>
          </a:xfrm>
          <a:prstGeom prst="roundRect">
            <a:avLst/>
          </a:prstGeom>
          <a:solidFill>
            <a:srgbClr val="EDF8FF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4528" y="5888736"/>
            <a:ext cx="2240280" cy="1188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80" b="1">
                <a:solidFill>
                  <a:srgbClr val="1565A0"/>
                </a:solidFill>
                <a:latin typeface="Noto Sans CJK SC"/>
              </a:rPr>
              <a:t>配置可比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5806440"/>
            <a:ext cx="2240280" cy="310896"/>
          </a:xfrm>
          <a:prstGeom prst="roundRect">
            <a:avLst/>
          </a:prstGeom>
          <a:solidFill>
            <a:srgbClr val="EEFBF2"/>
          </a:solidFill>
          <a:ln w="12700">
            <a:solidFill>
              <a:srgbClr val="ABD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5888736"/>
            <a:ext cx="2240280" cy="1188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80" b="1">
                <a:solidFill>
                  <a:srgbClr val="186A3B"/>
                </a:solidFill>
                <a:latin typeface="Noto Sans CJK SC"/>
              </a:rPr>
              <a:t>执行路径优化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5806440"/>
            <a:ext cx="2487168" cy="310896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C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96528" y="5888736"/>
            <a:ext cx="2487168" cy="1188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80" b="1">
                <a:solidFill>
                  <a:srgbClr val="825C00"/>
                </a:solidFill>
                <a:latin typeface="Noto Sans CJK SC"/>
              </a:rPr>
              <a:t>最新 main：平台期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6446520"/>
            <a:ext cx="484632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19" b="0">
                <a:solidFill>
                  <a:srgbClr val="2D2D2D"/>
                </a:solidFill>
                <a:latin typeface="Noto Sans CJK SC"/>
              </a:rPr>
              <a:t>https://vllm-hust.sage.org.ai/leaderboard.html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48288" y="6473952"/>
            <a:ext cx="411480" cy="1097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550" b="0">
                <a:solidFill>
                  <a:srgbClr val="285AAA"/>
                </a:solidFill>
                <a:latin typeface="Noto Sans CJK SC"/>
              </a:rPr>
              <a:t>Page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