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sharegpt-online：1×910B2 / Qwen2.5-14B / 200 req @ 1 QPS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sharegpt-online 吞吐</c:v>
                </c:pt>
              </c:strCache>
            </c:strRef>
          </c:tx>
          <c:spPr>
            <a:ln w="34925">
              <a:solidFill>
                <a:srgbClr val="2FA7E8"/>
              </a:solidFill>
            </a:ln>
          </c:spPr>
          <c:marker>
            <c:size val="7"/>
            <c:spPr>
              <a:solidFill>
                <a:srgbClr val="2FA7E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Sheet1!$A$2:$A$28</c:f>
              <c:strCache>
                <c:ptCount val="27"/>
                <c:pt idx="0">
                  <c:v>基线</c:v>
                </c:pt>
                <c:pt idx="1">
                  <c:v>07-02</c:v>
                </c:pt>
                <c:pt idx="2">
                  <c:v>07-02</c:v>
                </c:pt>
                <c:pt idx="3">
                  <c:v>07-02</c:v>
                </c:pt>
                <c:pt idx="4">
                  <c:v>07-02</c:v>
                </c:pt>
                <c:pt idx="5">
                  <c:v>07-02</c:v>
                </c:pt>
                <c:pt idx="6">
                  <c:v>07-03</c:v>
                </c:pt>
                <c:pt idx="7">
                  <c:v>07-03</c:v>
                </c:pt>
                <c:pt idx="8">
                  <c:v>07-05</c:v>
                </c:pt>
                <c:pt idx="9">
                  <c:v>07-05</c:v>
                </c:pt>
                <c:pt idx="10">
                  <c:v>07-05</c:v>
                </c:pt>
                <c:pt idx="11">
                  <c:v>07-05</c:v>
                </c:pt>
                <c:pt idx="12">
                  <c:v>07-05</c:v>
                </c:pt>
                <c:pt idx="13">
                  <c:v>07-05</c:v>
                </c:pt>
                <c:pt idx="14">
                  <c:v>07-19</c:v>
                </c:pt>
                <c:pt idx="15">
                  <c:v>07-20</c:v>
                </c:pt>
                <c:pt idx="16">
                  <c:v>07-20</c:v>
                </c:pt>
                <c:pt idx="17">
                  <c:v>07-20</c:v>
                </c:pt>
                <c:pt idx="18">
                  <c:v>07-20</c:v>
                </c:pt>
                <c:pt idx="19">
                  <c:v>07-20</c:v>
                </c:pt>
                <c:pt idx="20">
                  <c:v>07-20</c:v>
                </c:pt>
                <c:pt idx="21">
                  <c:v>07-20</c:v>
                </c:pt>
                <c:pt idx="22">
                  <c:v>07-20</c:v>
                </c:pt>
                <c:pt idx="23">
                  <c:v>07-20</c:v>
                </c:pt>
                <c:pt idx="24">
                  <c:v>07-20</c:v>
                </c:pt>
                <c:pt idx="25">
                  <c:v>07-21</c:v>
                </c:pt>
                <c:pt idx="26">
                  <c:v>latest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173.62</c:v>
                </c:pt>
                <c:pt idx="1">
                  <c:v>191.69</c:v>
                </c:pt>
                <c:pt idx="2">
                  <c:v>186.09</c:v>
                </c:pt>
                <c:pt idx="3">
                  <c:v>193.25</c:v>
                </c:pt>
                <c:pt idx="4">
                  <c:v>192.15</c:v>
                </c:pt>
                <c:pt idx="5">
                  <c:v>192.13</c:v>
                </c:pt>
                <c:pt idx="6">
                  <c:v>189.62</c:v>
                </c:pt>
                <c:pt idx="7">
                  <c:v>194.45</c:v>
                </c:pt>
                <c:pt idx="8">
                  <c:v>191.57</c:v>
                </c:pt>
                <c:pt idx="9">
                  <c:v>191.44</c:v>
                </c:pt>
                <c:pt idx="10">
                  <c:v>191.75</c:v>
                </c:pt>
                <c:pt idx="11">
                  <c:v>193.7</c:v>
                </c:pt>
                <c:pt idx="12">
                  <c:v>191.25</c:v>
                </c:pt>
                <c:pt idx="13">
                  <c:v>188.14</c:v>
                </c:pt>
                <c:pt idx="14">
                  <c:v>184.35</c:v>
                </c:pt>
                <c:pt idx="15">
                  <c:v>186.51</c:v>
                </c:pt>
                <c:pt idx="16">
                  <c:v>190.91</c:v>
                </c:pt>
                <c:pt idx="17">
                  <c:v>189.57</c:v>
                </c:pt>
                <c:pt idx="18">
                  <c:v>203.8</c:v>
                </c:pt>
                <c:pt idx="19">
                  <c:v>203.02</c:v>
                </c:pt>
                <c:pt idx="20">
                  <c:v>189.46</c:v>
                </c:pt>
                <c:pt idx="21">
                  <c:v>204.16</c:v>
                </c:pt>
                <c:pt idx="22">
                  <c:v>204.28</c:v>
                </c:pt>
                <c:pt idx="23">
                  <c:v>207.43</c:v>
                </c:pt>
                <c:pt idx="24">
                  <c:v>205.01</c:v>
                </c:pt>
                <c:pt idx="25">
                  <c:v>204.46</c:v>
                </c:pt>
                <c:pt idx="26">
                  <c:v>204.12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6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11.0"/>
          <c:min val="168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  <c:majorUnit val="5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274320"/>
            <a:ext cx="301752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100" b="1">
                <a:solidFill>
                  <a:srgbClr val="0042B4"/>
                </a:solidFill>
                <a:latin typeface="Noto Sans CJK SC"/>
              </a:rPr>
              <a:t>当前研究成果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786384"/>
            <a:ext cx="3337560" cy="402336"/>
          </a:xfrm>
          <a:prstGeom prst="round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859536"/>
            <a:ext cx="33375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SC"/>
              </a:rPr>
              <a:t>论文与集成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" y="1261872"/>
            <a:ext cx="3337560" cy="5102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81328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63040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发表论文2篇（SC2026），其中1篇已成功集成到 vllm-hust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93392"/>
            <a:ext cx="2743200" cy="6400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前述9个技术点有7个已经成功集成到 vllm-hust / vllm-ascend-hust，并显著提高整体性能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761488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43200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撰写《面向国产算力推理引擎综述》篇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291840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73552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撰写《中兴通讯技术》邀请稿1篇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822191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03904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获批举办第1届 StateSys workshop（w/ ATC 2026）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5833872"/>
            <a:ext cx="3017520" cy="310896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BE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907024"/>
            <a:ext cx="2834640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780" b="1">
                <a:solidFill>
                  <a:srgbClr val="004C8C"/>
                </a:solidFill>
                <a:latin typeface="Noto Sans CJK SC"/>
              </a:rPr>
              <a:t>核心叙事：从“能跑”走向“高效图执行与状态路径优化”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13632" y="530352"/>
            <a:ext cx="7882127" cy="420624"/>
          </a:xfrm>
          <a:prstGeom prst="roundRect">
            <a:avLst/>
          </a:prstGeom>
          <a:solidFill>
            <a:srgbClr val="B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3632" y="621792"/>
            <a:ext cx="7882127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Noto Sans CJK SC"/>
              </a:rPr>
              <a:t>性能排行榜展示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1060704"/>
            <a:ext cx="7882127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6446520"/>
            <a:ext cx="484632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19" b="0">
                <a:solidFill>
                  <a:srgbClr val="2D2D2D"/>
                </a:solidFill>
                <a:latin typeface="Noto Sans CJK SC"/>
              </a:rPr>
              <a:t>https://vllm-hust.sage.org.ai/leaderboard.html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48288" y="6473952"/>
            <a:ext cx="411480" cy="10972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550" b="0">
                <a:solidFill>
                  <a:srgbClr val="285AAA"/>
                </a:solidFill>
                <a:latin typeface="Noto Sans CJK SC"/>
              </a:rPr>
              <a:t>Page 20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133087" y="1234440"/>
          <a:ext cx="74523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4279392" y="5029200"/>
            <a:ext cx="1005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5093208"/>
            <a:ext cx="950976" cy="40233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69" b="1">
                <a:solidFill>
                  <a:srgbClr val="D35400"/>
                </a:solidFill>
                <a:latin typeface="Noto Sans CJK SC"/>
              </a:rPr>
              <a:t>官方基线
173.6 tok/s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4361688" y="4617720"/>
            <a:ext cx="320040" cy="365760"/>
          </a:xfrm>
          <a:prstGeom prst="line">
            <a:avLst/>
          </a:prstGeom>
          <a:ln w="15240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0" y="2103120"/>
            <a:ext cx="14173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7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56632" y="2167127"/>
            <a:ext cx="1362456" cy="40233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69" b="1">
                <a:solidFill>
                  <a:srgbClr val="117A65"/>
                </a:solidFill>
                <a:latin typeface="Noto Sans CJK SC"/>
              </a:rPr>
              <a:t>Ascend图执行路径
稳定进入190+区间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68112" y="2578608"/>
            <a:ext cx="448056" cy="475488"/>
          </a:xfrm>
          <a:prstGeom prst="line">
            <a:avLst/>
          </a:prstGeom>
          <a:ln w="15240">
            <a:solidFill>
              <a:srgbClr val="117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83879" y="1828800"/>
            <a:ext cx="14173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1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1" y="1892807"/>
            <a:ext cx="1362456" cy="40233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69" b="1">
                <a:solidFill>
                  <a:srgbClr val="1F618D"/>
                </a:solidFill>
                <a:latin typeface="Noto Sans CJK SC"/>
              </a:rPr>
              <a:t>在线Serving开销削减
吞吐跃迁到200+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05088" y="2313432"/>
            <a:ext cx="301752" cy="265176"/>
          </a:xfrm>
          <a:prstGeom prst="line">
            <a:avLst/>
          </a:prstGeom>
          <a:ln w="15240">
            <a:solidFill>
              <a:srgbClr val="1F61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217152" y="1325880"/>
            <a:ext cx="1371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44584" y="1389888"/>
            <a:ext cx="1316736" cy="40233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69" b="1">
                <a:solidFill>
                  <a:srgbClr val="B7950B"/>
                </a:solidFill>
                <a:latin typeface="Noto Sans CJK SC"/>
              </a:rPr>
              <a:t>调度/状态路径优化
峰值207.4 tok/s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57232" y="1810512"/>
            <a:ext cx="128016" cy="347472"/>
          </a:xfrm>
          <a:prstGeom prst="line">
            <a:avLst/>
          </a:prstGeom>
          <a:ln w="15240">
            <a:solidFill>
              <a:srgbClr val="B795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058400" y="2834640"/>
            <a:ext cx="1417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22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85832" y="2898648"/>
            <a:ext cx="1362456" cy="457199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69" b="1">
                <a:solidFill>
                  <a:srgbClr val="922B21"/>
                </a:solidFill>
                <a:latin typeface="Noto Sans CJK SC"/>
              </a:rPr>
              <a:t>最新main平台期
decode/TBT成下一瓶颈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11018520" y="2615184"/>
            <a:ext cx="118872" cy="493776"/>
          </a:xfrm>
          <a:prstGeom prst="line">
            <a:avLst/>
          </a:prstGeom>
          <a:ln w="15240">
            <a:solidFill>
              <a:srgbClr val="922B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206240" y="5806440"/>
            <a:ext cx="1920240" cy="310896"/>
          </a:xfrm>
          <a:prstGeom prst="roundRect">
            <a:avLst/>
          </a:prstGeom>
          <a:solidFill>
            <a:srgbClr val="EDF8FF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0" y="5888736"/>
            <a:ext cx="1920240" cy="1188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80" b="1">
                <a:solidFill>
                  <a:srgbClr val="1565A0"/>
                </a:solidFill>
                <a:latin typeface="Noto Sans CJK SC"/>
              </a:rPr>
              <a:t>图执行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5806440"/>
            <a:ext cx="1920240" cy="310896"/>
          </a:xfrm>
          <a:prstGeom prst="roundRect">
            <a:avLst/>
          </a:prstGeom>
          <a:solidFill>
            <a:srgbClr val="EEFBF2"/>
          </a:solidFill>
          <a:ln w="12700">
            <a:solidFill>
              <a:srgbClr val="ABD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5888736"/>
            <a:ext cx="1920240" cy="1188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80" b="1">
                <a:solidFill>
                  <a:srgbClr val="186A3B"/>
                </a:solidFill>
                <a:latin typeface="Noto Sans CJK SC"/>
              </a:rPr>
              <a:t>在线开销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3920" y="5806440"/>
            <a:ext cx="2487168" cy="310896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5C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5888736"/>
            <a:ext cx="2487168" cy="1188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80" b="1">
                <a:solidFill>
                  <a:srgbClr val="825C00"/>
                </a:solidFill>
                <a:latin typeface="Noto Sans CJK SC"/>
              </a:rPr>
              <a:t>调度/状态路径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