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1E5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83480" y="114299"/>
            <a:ext cx="10972" cy="5029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99939" y="106382"/>
            <a:ext cx="10972" cy="5820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6398" y="98956"/>
            <a:ext cx="10972" cy="6563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32857" y="92484"/>
            <a:ext cx="10972" cy="7210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49316" y="87369"/>
            <a:ext cx="10972" cy="7722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65776" y="83928"/>
            <a:ext cx="10972" cy="8066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2235" y="82376"/>
            <a:ext cx="10972" cy="8221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98694" y="82808"/>
            <a:ext cx="10972" cy="8178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5153" y="85198"/>
            <a:ext cx="10972" cy="7939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31612" y="89398"/>
            <a:ext cx="10972" cy="7519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8072" y="95146"/>
            <a:ext cx="10972" cy="6944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4531" y="102085"/>
            <a:ext cx="10972" cy="625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80990" y="109783"/>
            <a:ext cx="10972" cy="5480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97449" y="117762"/>
            <a:ext cx="10972" cy="4682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3908" y="125526"/>
            <a:ext cx="10972" cy="3906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30368" y="132592"/>
            <a:ext cx="10972" cy="3199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46827" y="138520"/>
            <a:ext cx="10972" cy="2607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63286" y="142943"/>
            <a:ext cx="10972" cy="2164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745" y="145584"/>
            <a:ext cx="10972" cy="1900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96204" y="146281"/>
            <a:ext cx="10972" cy="1831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12664" y="144989"/>
            <a:ext cx="10972" cy="1960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9123" y="141789"/>
            <a:ext cx="10972" cy="22802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45582" y="136880"/>
            <a:ext cx="10972" cy="2771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62041" y="130566"/>
            <a:ext cx="10972" cy="3402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78500" y="123242"/>
            <a:ext cx="10972" cy="4134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4960" y="115361"/>
            <a:ext cx="10972" cy="49230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11419" y="107415"/>
            <a:ext cx="10972" cy="5717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7878" y="99896"/>
            <a:ext cx="10972" cy="6469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4337" y="93273"/>
            <a:ext cx="10972" cy="7131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60796" y="87958"/>
            <a:ext cx="10972" cy="7663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77256" y="84280"/>
            <a:ext cx="10972" cy="8031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93715" y="82468"/>
            <a:ext cx="10972" cy="82123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0174" y="82636"/>
            <a:ext cx="10972" cy="8195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26633" y="84772"/>
            <a:ext cx="10972" cy="7981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43092" y="88745"/>
            <a:ext cx="10972" cy="7584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9552" y="94306"/>
            <a:ext cx="10972" cy="7028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76011" y="101110"/>
            <a:ext cx="10972" cy="6348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592470" y="108734"/>
            <a:ext cx="10972" cy="55857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8929" y="116705"/>
            <a:ext cx="10972" cy="4788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25388" y="124525"/>
            <a:ext cx="10972" cy="4006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41848" y="131710"/>
            <a:ext cx="10972" cy="3288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58307" y="137813"/>
            <a:ext cx="10972" cy="2677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74766" y="142453"/>
            <a:ext cx="10972" cy="2213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91225" y="145343"/>
            <a:ext cx="10972" cy="1924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07684" y="146303"/>
            <a:ext cx="10972" cy="1828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24144" y="145273"/>
            <a:ext cx="10972" cy="19318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40603" y="142317"/>
            <a:ext cx="10972" cy="2227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57062" y="137620"/>
            <a:ext cx="10972" cy="26971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773521" y="131472"/>
            <a:ext cx="10972" cy="3311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89980" y="124257"/>
            <a:ext cx="10972" cy="40334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06440" y="116422"/>
            <a:ext cx="10972" cy="4816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22899" y="108456"/>
            <a:ext cx="10972" cy="56135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839358" y="100852"/>
            <a:ext cx="10972" cy="63739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55817" y="94085"/>
            <a:ext cx="10972" cy="7050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72276" y="88575"/>
            <a:ext cx="10972" cy="76016"/>
          </a:xfrm>
          <a:prstGeom prst="rect">
            <a:avLst/>
          </a:prstGeom>
          <a:solidFill>
            <a:srgbClr val="78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32004"/>
            <a:ext cx="173736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80" b="0">
                <a:solidFill>
                  <a:srgbClr val="FFFFFF"/>
                </a:solidFill>
                <a:latin typeface="Noto Sans CJK SC"/>
              </a:rPr>
              <a:t>Huazhong University of Science and Technology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2880" y="274320"/>
            <a:ext cx="65836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100" b="1">
                <a:solidFill>
                  <a:srgbClr val="1243A3"/>
                </a:solidFill>
                <a:latin typeface="Noto Sans CJK SC"/>
              </a:rPr>
              <a:t>研究课题 - </a:t>
            </a:r>
            <a:r>
              <a:rPr sz="2100" b="1">
                <a:solidFill>
                  <a:srgbClr val="CD0000"/>
                </a:solidFill>
                <a:latin typeface="Noto Sans CJK SC"/>
              </a:rPr>
              <a:t>LLM Serving 中的 KV 缓存共享选择层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2880" y="694944"/>
            <a:ext cx="80467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1">
                <a:solidFill>
                  <a:srgbClr val="000000"/>
                </a:solidFill>
                <a:latin typeface="Noto Sans CJK SC"/>
              </a:rPr>
              <a:t>• APC、Prompt Cache、CacheBlend、LMCache 等机制正在丰富化，但系统缺少</a:t>
            </a:r>
            <a:r>
              <a:rPr sz="1320" b="1">
                <a:solidFill>
                  <a:srgbClr val="CD0000"/>
                </a:solidFill>
                <a:latin typeface="Noto Sans CJK SC"/>
              </a:rPr>
              <a:t>跨机制的全局选择层。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1042415"/>
            <a:ext cx="4041648" cy="3401568"/>
          </a:xfrm>
          <a:prstGeom prst="rect">
            <a:avLst/>
          </a:prstGeom>
          <a:solidFill>
            <a:srgbClr val="FFFFFF"/>
          </a:solidFill>
          <a:ln w="11430">
            <a:solidFill>
              <a:srgbClr val="4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480560" y="1042415"/>
            <a:ext cx="4389120" cy="3401568"/>
          </a:xfrm>
          <a:prstGeom prst="rect">
            <a:avLst/>
          </a:prstGeom>
          <a:solidFill>
            <a:srgbClr val="FFFFFF"/>
          </a:solidFill>
          <a:ln w="11430">
            <a:solidFill>
              <a:srgbClr val="4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219456" y="2157984"/>
            <a:ext cx="4005072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498848" y="2157984"/>
            <a:ext cx="4352544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19456" y="3273552"/>
            <a:ext cx="4005072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498848" y="3273552"/>
            <a:ext cx="4352544" cy="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ight Triangle 66"/>
          <p:cNvSpPr/>
          <p:nvPr/>
        </p:nvSpPr>
        <p:spPr>
          <a:xfrm>
            <a:off x="4178808" y="1719072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ight Triangle 67"/>
          <p:cNvSpPr/>
          <p:nvPr/>
        </p:nvSpPr>
        <p:spPr>
          <a:xfrm>
            <a:off x="4178808" y="2834640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Triangle 68"/>
          <p:cNvSpPr/>
          <p:nvPr/>
        </p:nvSpPr>
        <p:spPr>
          <a:xfrm>
            <a:off x="4178808" y="3840480"/>
            <a:ext cx="256032" cy="320040"/>
          </a:xfrm>
          <a:prstGeom prst="rtTriangle">
            <a:avLst/>
          </a:prstGeom>
          <a:solidFill>
            <a:srgbClr val="87A5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2336" y="1143000"/>
            <a:ext cx="12984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008C96"/>
                </a:solidFill>
                <a:latin typeface="Noto Sans CJK SC"/>
              </a:rPr>
              <a:t>机制丰富但局部决策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" y="1408176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APC / RadixAttention / Prompt Cache /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CacheBlend / LMCache 各自解决一类共享，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但多数只在机制内部做硬编码选择。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048256" y="1188720"/>
            <a:ext cx="438912" cy="20116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21408" y="1248156"/>
            <a:ext cx="29260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008C96"/>
                </a:solidFill>
                <a:latin typeface="Noto Sans CJK SC"/>
              </a:rPr>
              <a:t>APC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06624" y="1188720"/>
            <a:ext cx="438912" cy="20116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2D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79776" y="1248156"/>
            <a:ext cx="29260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2DA055"/>
                </a:solidFill>
                <a:latin typeface="Noto Sans CJK SC"/>
              </a:rPr>
              <a:t>PC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048256" y="1499616"/>
            <a:ext cx="438912" cy="20116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21408" y="1559052"/>
            <a:ext cx="29260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EB8F22"/>
                </a:solidFill>
                <a:latin typeface="Noto Sans CJK SC"/>
              </a:rPr>
              <a:t>CB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706624" y="1499616"/>
            <a:ext cx="438912" cy="201168"/>
          </a:xfrm>
          <a:prstGeom prst="roundRect">
            <a:avLst/>
          </a:prstGeom>
          <a:solidFill>
            <a:srgbClr val="EEF6FF"/>
          </a:solidFill>
          <a:ln w="11430">
            <a:solidFill>
              <a:srgbClr val="705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79776" y="1559052"/>
            <a:ext cx="292608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50" b="1">
                <a:solidFill>
                  <a:srgbClr val="7056CD"/>
                </a:solidFill>
                <a:latin typeface="Noto Sans CJK SC"/>
              </a:rPr>
              <a:t>LMC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28416" y="1463040"/>
            <a:ext cx="3200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30" b="1">
                <a:solidFill>
                  <a:srgbClr val="505A69"/>
                </a:solidFill>
                <a:latin typeface="Noto Sans CJK SC"/>
              </a:rPr>
              <a:t>rules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3236976" y="1261872"/>
            <a:ext cx="329184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236976" y="1389888"/>
            <a:ext cx="329184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36976" y="1517904"/>
            <a:ext cx="329184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236976" y="1645920"/>
            <a:ext cx="329184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02336" y="2258568"/>
            <a:ext cx="12984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2DA055"/>
                </a:solidFill>
                <a:latin typeface="Noto Sans CJK SC"/>
              </a:rPr>
              <a:t>共享机会异构叠加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0896" y="2523744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系统提示、RAG 文档块、工具调用模板、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多轮上下文会同时出现，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前缀共享与非前缀共享交织。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048256" y="2304288"/>
            <a:ext cx="118872" cy="91440"/>
          </a:xfrm>
          <a:prstGeom prst="roundRect">
            <a:avLst/>
          </a:prstGeom>
          <a:solidFill>
            <a:srgbClr val="B9E2C3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2212848" y="2304288"/>
            <a:ext cx="118872" cy="91440"/>
          </a:xfrm>
          <a:prstGeom prst="roundRect">
            <a:avLst/>
          </a:prstGeom>
          <a:solidFill>
            <a:srgbClr val="B9E2C3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377440" y="2304288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2542032" y="2304288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2706624" y="2304288"/>
            <a:ext cx="118872" cy="91440"/>
          </a:xfrm>
          <a:prstGeom prst="roundRect">
            <a:avLst/>
          </a:prstGeom>
          <a:solidFill>
            <a:srgbClr val="FFE0B9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2871216" y="2304288"/>
            <a:ext cx="118872" cy="91440"/>
          </a:xfrm>
          <a:prstGeom prst="roundRect">
            <a:avLst/>
          </a:prstGeom>
          <a:solidFill>
            <a:srgbClr val="FFE0B9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3035808" y="2304288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048256" y="2468880"/>
            <a:ext cx="118872" cy="91440"/>
          </a:xfrm>
          <a:prstGeom prst="roundRect">
            <a:avLst/>
          </a:prstGeom>
          <a:solidFill>
            <a:srgbClr val="B9E2C3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2212848" y="2468880"/>
            <a:ext cx="118872" cy="91440"/>
          </a:xfrm>
          <a:prstGeom prst="roundRect">
            <a:avLst/>
          </a:prstGeom>
          <a:solidFill>
            <a:srgbClr val="B9E2C3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377440" y="2468880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542032" y="2468880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2706624" y="2468880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2871216" y="2468880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035808" y="2468880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2048256" y="2633472"/>
            <a:ext cx="118872" cy="91440"/>
          </a:xfrm>
          <a:prstGeom prst="roundRect">
            <a:avLst/>
          </a:prstGeom>
          <a:solidFill>
            <a:srgbClr val="B9E2C3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2212848" y="2633472"/>
            <a:ext cx="118872" cy="91440"/>
          </a:xfrm>
          <a:prstGeom prst="roundRect">
            <a:avLst/>
          </a:prstGeom>
          <a:solidFill>
            <a:srgbClr val="B9E2C3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2377440" y="2633472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542032" y="2633472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2706624" y="2633472"/>
            <a:ext cx="118872" cy="91440"/>
          </a:xfrm>
          <a:prstGeom prst="roundRect">
            <a:avLst/>
          </a:prstGeom>
          <a:solidFill>
            <a:srgbClr val="FFE0B9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2871216" y="2633472"/>
            <a:ext cx="118872" cy="91440"/>
          </a:xfrm>
          <a:prstGeom prst="roundRect">
            <a:avLst/>
          </a:prstGeom>
          <a:solidFill>
            <a:srgbClr val="FFE0B9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3035808" y="2633472"/>
            <a:ext cx="118872" cy="91440"/>
          </a:xfrm>
          <a:prstGeom prst="roundRect">
            <a:avLst/>
          </a:prstGeom>
          <a:solidFill>
            <a:srgbClr val="E2EE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75688" y="2871216"/>
            <a:ext cx="109728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30" b="0">
                <a:solidFill>
                  <a:srgbClr val="505A69"/>
                </a:solidFill>
                <a:latin typeface="Noto Sans CJK SC"/>
              </a:rPr>
              <a:t>prefix + RAG segments + templates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2336" y="3374136"/>
            <a:ext cx="1298448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EB8F22"/>
                </a:solidFill>
                <a:latin typeface="Noto Sans CJK SC"/>
              </a:rPr>
              <a:t>缺少全局代价权衡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10896" y="3639312"/>
            <a:ext cx="1627632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不同机制的 TTFT、显存、重计算、调度开销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并不相同；静态优先级规则容易错过收益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780" b="1">
                <a:solidFill>
                  <a:srgbClr val="000000"/>
                </a:solidFill>
                <a:latin typeface="Noto Sans CJK SC"/>
              </a:rPr>
              <a:t>或引入额外系统开销。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029968" y="3419856"/>
            <a:ext cx="320040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20" b="1">
                <a:solidFill>
                  <a:srgbClr val="008C96"/>
                </a:solidFill>
                <a:latin typeface="Noto Sans CJK SC"/>
              </a:rPr>
              <a:t>TTFT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414016" y="3419856"/>
            <a:ext cx="786384" cy="100584"/>
          </a:xfrm>
          <a:prstGeom prst="round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029968" y="3621024"/>
            <a:ext cx="320040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20" b="1">
                <a:solidFill>
                  <a:srgbClr val="EB8F22"/>
                </a:solidFill>
                <a:latin typeface="Noto Sans CJK SC"/>
              </a:rPr>
              <a:t>MEM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414016" y="3621024"/>
            <a:ext cx="530352" cy="100584"/>
          </a:xfrm>
          <a:prstGeom prst="round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029968" y="3822192"/>
            <a:ext cx="320040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20" b="1">
                <a:solidFill>
                  <a:srgbClr val="7056CD"/>
                </a:solidFill>
                <a:latin typeface="Noto Sans CJK SC"/>
              </a:rPr>
              <a:t>SLO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414016" y="3822192"/>
            <a:ext cx="932688" cy="100584"/>
          </a:xfrm>
          <a:prstGeom prst="roundRect">
            <a:avLst/>
          </a:prstGeom>
          <a:solidFill>
            <a:srgbClr val="705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3557016" y="3566160"/>
            <a:ext cx="256032" cy="256032"/>
          </a:xfrm>
          <a:prstGeom prst="roundRect">
            <a:avLst/>
          </a:prstGeom>
          <a:solidFill>
            <a:srgbClr val="FFEBEB"/>
          </a:solidFill>
          <a:ln w="11430">
            <a:solidFill>
              <a:srgbClr val="C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593592" y="3639312"/>
            <a:ext cx="1828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CD0000"/>
                </a:solidFill>
                <a:latin typeface="Noto Sans CJK SC"/>
              </a:rPr>
              <a:t>?</a:t>
            </a:r>
          </a:p>
        </p:txBody>
      </p:sp>
      <p:sp>
        <p:nvSpPr>
          <p:cNvPr id="119" name="TextBox 118"/>
          <p:cNvSpPr txBox="1"/>
          <p:nvPr/>
        </p:nvSpPr>
        <p:spPr>
          <a:xfrm rot="16200000">
            <a:off x="4608576" y="1307592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候选分析</a:t>
            </a:r>
          </a:p>
        </p:txBody>
      </p:sp>
      <p:sp>
        <p:nvSpPr>
          <p:cNvPr id="120" name="TextBox 119"/>
          <p:cNvSpPr txBox="1"/>
          <p:nvPr/>
        </p:nvSpPr>
        <p:spPr>
          <a:xfrm rot="16200000">
            <a:off x="4608576" y="2432304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代价建模</a:t>
            </a:r>
          </a:p>
        </p:txBody>
      </p:sp>
      <p:sp>
        <p:nvSpPr>
          <p:cNvPr id="121" name="TextBox 120"/>
          <p:cNvSpPr txBox="1"/>
          <p:nvPr/>
        </p:nvSpPr>
        <p:spPr>
          <a:xfrm rot="16200000">
            <a:off x="4608576" y="3547872"/>
            <a:ext cx="22860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D0000"/>
                </a:solidFill>
                <a:latin typeface="Noto Sans CJK SC"/>
              </a:rPr>
              <a:t>计划选择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864608" y="1069848"/>
            <a:ext cx="0" cy="3337560"/>
          </a:xfrm>
          <a:prstGeom prst="line">
            <a:avLst/>
          </a:prstGeom>
          <a:ln w="10160">
            <a:solidFill>
              <a:srgbClr val="5884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5010912" y="1298448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从请求集合中抽取可共享结构：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前缀、RAG 片段、模板、历史上下文，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形成 shared candidate graph。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10912" y="2423160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估算每种机制应用到候选结构的收益与成本：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prefill 计算、显存占用、缓存读取、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重计算比例和调度延迟。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10912" y="3538728"/>
            <a:ext cx="166420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在“候选结构 × 共享机制”的组合空间中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选择全局执行计划，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940" b="1">
                <a:solidFill>
                  <a:srgbClr val="000000"/>
                </a:solidFill>
                <a:latin typeface="Noto Sans CJK SC"/>
              </a:rPr>
              <a:t>并翻译为底层引擎调用序列。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839712" y="1298448"/>
            <a:ext cx="384048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876288" y="1339595"/>
            <a:ext cx="310896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" b="1">
                <a:solidFill>
                  <a:srgbClr val="008C96"/>
                </a:solidFill>
                <a:latin typeface="Noto Sans CJK SC"/>
              </a:rPr>
              <a:t>Req A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7479792" y="1225296"/>
            <a:ext cx="384048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2D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516367" y="1266444"/>
            <a:ext cx="310896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" b="1">
                <a:solidFill>
                  <a:srgbClr val="2DA055"/>
                </a:solidFill>
                <a:latin typeface="Noto Sans CJK SC"/>
              </a:rPr>
              <a:t>Prefix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046720" y="1389888"/>
            <a:ext cx="384048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083296" y="1431036"/>
            <a:ext cx="310896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" b="1">
                <a:solidFill>
                  <a:srgbClr val="EB8F22"/>
                </a:solidFill>
                <a:latin typeface="Noto Sans CJK SC"/>
              </a:rPr>
              <a:t>RAG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912864" y="1700784"/>
            <a:ext cx="384048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00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949440" y="1741932"/>
            <a:ext cx="310896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" b="1">
                <a:solidFill>
                  <a:srgbClr val="008C96"/>
                </a:solidFill>
                <a:latin typeface="Noto Sans CJK SC"/>
              </a:rPr>
              <a:t>Req B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571231" y="1700784"/>
            <a:ext cx="384048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705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607807" y="1741932"/>
            <a:ext cx="310896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" b="1">
                <a:solidFill>
                  <a:srgbClr val="7056CD"/>
                </a:solidFill>
                <a:latin typeface="Noto Sans CJK SC"/>
              </a:rPr>
              <a:t>Tool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119872" y="1773936"/>
            <a:ext cx="384048" cy="164592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2DA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156448" y="1815084"/>
            <a:ext cx="310896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20" b="1">
                <a:solidFill>
                  <a:srgbClr val="2DA055"/>
                </a:solidFill>
                <a:latin typeface="Noto Sans CJK SC"/>
              </a:rPr>
              <a:t>Ctx</a:t>
            </a:r>
          </a:p>
        </p:txBody>
      </p:sp>
      <p:cxnSp>
        <p:nvCxnSpPr>
          <p:cNvPr id="138" name="Connector 137"/>
          <p:cNvCxnSpPr/>
          <p:nvPr/>
        </p:nvCxnSpPr>
        <p:spPr>
          <a:xfrm flipV="1">
            <a:off x="7223760" y="1307592"/>
            <a:ext cx="256032" cy="73152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863840" y="1307592"/>
            <a:ext cx="182880" cy="13716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296912" y="1783080"/>
            <a:ext cx="274319" cy="0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955279" y="1783080"/>
            <a:ext cx="164593" cy="73151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671816" y="1389888"/>
            <a:ext cx="0" cy="310896"/>
          </a:xfrm>
          <a:prstGeom prst="line">
            <a:avLst/>
          </a:prstGeom>
          <a:ln w="1016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6912864" y="1984248"/>
            <a:ext cx="132588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" b="0">
                <a:solidFill>
                  <a:srgbClr val="505A69"/>
                </a:solidFill>
                <a:latin typeface="Noto Sans CJK SC"/>
              </a:rPr>
              <a:t>shared candidate graph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894576" y="2331720"/>
            <a:ext cx="1225296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60" b="1">
                <a:solidFill>
                  <a:srgbClr val="505A69"/>
                </a:solidFill>
                <a:latin typeface="Noto Sans CJK SC"/>
              </a:rPr>
              <a:t>mechanism cost model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821424" y="2523744"/>
            <a:ext cx="182880" cy="82296"/>
          </a:xfrm>
          <a:prstGeom prst="rect">
            <a:avLst/>
          </a:prstGeom>
          <a:solidFill>
            <a:srgbClr val="50A0D2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077456" y="2523744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333488" y="2523744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589520" y="2523744"/>
            <a:ext cx="182880" cy="82296"/>
          </a:xfrm>
          <a:prstGeom prst="rect">
            <a:avLst/>
          </a:prstGeom>
          <a:solidFill>
            <a:srgbClr val="50A0D2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821424" y="2651760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077456" y="2651760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333488" y="2651760"/>
            <a:ext cx="182880" cy="82296"/>
          </a:xfrm>
          <a:prstGeom prst="rect">
            <a:avLst/>
          </a:prstGeom>
          <a:solidFill>
            <a:srgbClr val="50A0D2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589520" y="2651760"/>
            <a:ext cx="182880" cy="82296"/>
          </a:xfrm>
          <a:prstGeom prst="rect">
            <a:avLst/>
          </a:prstGeom>
          <a:solidFill>
            <a:srgbClr val="FFDCB4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821424" y="2779776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077456" y="2779776"/>
            <a:ext cx="182880" cy="82296"/>
          </a:xfrm>
          <a:prstGeom prst="rect">
            <a:avLst/>
          </a:prstGeom>
          <a:solidFill>
            <a:srgbClr val="50A0D2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333488" y="2779776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589520" y="2779776"/>
            <a:ext cx="182880" cy="82296"/>
          </a:xfrm>
          <a:prstGeom prst="rect">
            <a:avLst/>
          </a:prstGeom>
          <a:solidFill>
            <a:srgbClr val="FFDCB4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21424" y="2907791"/>
            <a:ext cx="182880" cy="82296"/>
          </a:xfrm>
          <a:prstGeom prst="rect">
            <a:avLst/>
          </a:prstGeom>
          <a:solidFill>
            <a:srgbClr val="50A0D2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077456" y="2907791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333488" y="2907791"/>
            <a:ext cx="182880" cy="82296"/>
          </a:xfrm>
          <a:prstGeom prst="rect">
            <a:avLst/>
          </a:prstGeom>
          <a:solidFill>
            <a:srgbClr val="E2EEFF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589520" y="2907791"/>
            <a:ext cx="182880" cy="82296"/>
          </a:xfrm>
          <a:prstGeom prst="rect">
            <a:avLst/>
          </a:prstGeom>
          <a:solidFill>
            <a:srgbClr val="50A0D2"/>
          </a:solidFill>
          <a:ln w="11430"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046720" y="2587752"/>
            <a:ext cx="100584" cy="402336"/>
          </a:xfrm>
          <a:prstGeom prst="rect">
            <a:avLst/>
          </a:prstGeom>
          <a:solidFill>
            <a:srgbClr val="008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973568" y="3035808"/>
            <a:ext cx="228600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50" b="1">
                <a:solidFill>
                  <a:srgbClr val="008C96"/>
                </a:solidFill>
                <a:latin typeface="Noto Sans CJK SC"/>
              </a:rPr>
              <a:t>APC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211312" y="2423160"/>
            <a:ext cx="100584" cy="566928"/>
          </a:xfrm>
          <a:prstGeom prst="rect">
            <a:avLst/>
          </a:prstGeom>
          <a:solidFill>
            <a:srgbClr val="EB8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138160" y="3035808"/>
            <a:ext cx="228600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50" b="1">
                <a:solidFill>
                  <a:srgbClr val="EB8F22"/>
                </a:solidFill>
                <a:latin typeface="Noto Sans CJK SC"/>
              </a:rPr>
              <a:t>CB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375904" y="2697480"/>
            <a:ext cx="100584" cy="292608"/>
          </a:xfrm>
          <a:prstGeom prst="rect">
            <a:avLst/>
          </a:prstGeom>
          <a:solidFill>
            <a:srgbClr val="705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302752" y="3035808"/>
            <a:ext cx="228600" cy="54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50" b="1">
                <a:solidFill>
                  <a:srgbClr val="7056CD"/>
                </a:solidFill>
                <a:latin typeface="Noto Sans CJK SC"/>
              </a:rPr>
              <a:t>LMC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748272" y="3694176"/>
            <a:ext cx="420624" cy="201168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771132" y="3753612"/>
            <a:ext cx="374904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9" b="1">
                <a:solidFill>
                  <a:srgbClr val="082769"/>
                </a:solidFill>
                <a:latin typeface="Noto Sans CJK SC"/>
              </a:rPr>
              <a:t>Analyze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278624" y="3694176"/>
            <a:ext cx="420624" cy="201168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301484" y="3753612"/>
            <a:ext cx="374904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9" b="1">
                <a:solidFill>
                  <a:srgbClr val="082769"/>
                </a:solidFill>
                <a:latin typeface="Noto Sans CJK SC"/>
              </a:rPr>
              <a:t>Cost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7168896" y="3794760"/>
            <a:ext cx="109728" cy="0"/>
          </a:xfrm>
          <a:prstGeom prst="line">
            <a:avLst/>
          </a:prstGeom>
          <a:ln w="1143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171"/>
          <p:cNvSpPr/>
          <p:nvPr/>
        </p:nvSpPr>
        <p:spPr>
          <a:xfrm>
            <a:off x="7726679" y="3694176"/>
            <a:ext cx="420624" cy="201168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749540" y="3753612"/>
            <a:ext cx="374904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9" b="1">
                <a:solidFill>
                  <a:srgbClr val="082769"/>
                </a:solidFill>
                <a:latin typeface="Noto Sans CJK SC"/>
              </a:rPr>
              <a:t>Select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7699248" y="3794760"/>
            <a:ext cx="27431" cy="0"/>
          </a:xfrm>
          <a:prstGeom prst="line">
            <a:avLst/>
          </a:prstGeom>
          <a:ln w="1143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ounded Rectangle 174"/>
          <p:cNvSpPr/>
          <p:nvPr/>
        </p:nvSpPr>
        <p:spPr>
          <a:xfrm>
            <a:off x="8211312" y="3694176"/>
            <a:ext cx="420624" cy="201168"/>
          </a:xfrm>
          <a:prstGeom prst="roundRect">
            <a:avLst/>
          </a:prstGeom>
          <a:solidFill>
            <a:srgbClr val="ECF4FF"/>
          </a:solidFill>
          <a:ln w="1143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234172" y="3753612"/>
            <a:ext cx="374904" cy="64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9" b="1">
                <a:solidFill>
                  <a:srgbClr val="082769"/>
                </a:solidFill>
                <a:latin typeface="Noto Sans CJK SC"/>
              </a:rPr>
              <a:t>Execute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8147304" y="3794760"/>
            <a:ext cx="64008" cy="0"/>
          </a:xfrm>
          <a:prstGeom prst="line">
            <a:avLst/>
          </a:prstGeom>
          <a:ln w="11430">
            <a:solidFill>
              <a:srgbClr val="6482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ounded Rectangle 177"/>
          <p:cNvSpPr/>
          <p:nvPr/>
        </p:nvSpPr>
        <p:spPr>
          <a:xfrm>
            <a:off x="7040880" y="4050791"/>
            <a:ext cx="1389888" cy="137160"/>
          </a:xfrm>
          <a:prstGeom prst="roundRect">
            <a:avLst/>
          </a:prstGeom>
          <a:solidFill>
            <a:srgbClr val="FFEFDA"/>
          </a:solidFill>
          <a:ln w="11430">
            <a:solidFill>
              <a:srgbClr val="EB8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114032" y="4087368"/>
            <a:ext cx="1243584" cy="45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09" b="1">
                <a:solidFill>
                  <a:srgbClr val="EB8F22"/>
                </a:solidFill>
                <a:latin typeface="Noto Sans CJK SC"/>
              </a:rPr>
              <a:t>CBO-style KV Reuse Optimizer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201168" y="4526280"/>
            <a:ext cx="4041648" cy="393192"/>
          </a:xfrm>
          <a:prstGeom prst="round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4480560" y="4526280"/>
            <a:ext cx="4389120" cy="393192"/>
          </a:xfrm>
          <a:prstGeom prst="roundRect">
            <a:avLst/>
          </a:prstGeom>
          <a:solidFill>
            <a:srgbClr val="082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02336" y="4608576"/>
            <a:ext cx="36576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80" b="1">
                <a:solidFill>
                  <a:srgbClr val="FFFFFF"/>
                </a:solidFill>
                <a:latin typeface="Noto Sans CJK SC"/>
              </a:rPr>
              <a:t>从“机会主义命中”走向“基于代价的全局选择”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645152" y="4608576"/>
            <a:ext cx="4041648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FFFFF"/>
                </a:solidFill>
                <a:latin typeface="Noto Sans CJK SC"/>
              </a:rPr>
              <a:t>核心研究问题：</a:t>
            </a:r>
            <a:r>
              <a:rPr sz="1060" b="1">
                <a:solidFill>
                  <a:srgbClr val="FFF100"/>
                </a:solidFill>
                <a:latin typeface="Noto Sans CJK SC"/>
              </a:rPr>
              <a:t>候选发现、代价建模、执行计划选择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759952" y="4855464"/>
            <a:ext cx="164592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20" b="0">
                <a:solidFill>
                  <a:srgbClr val="1243A3"/>
                </a:solidFill>
                <a:latin typeface="Noto Sans CJK SC"/>
              </a:rPr>
              <a:t>Page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