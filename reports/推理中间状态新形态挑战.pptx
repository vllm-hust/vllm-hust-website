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01168"/>
          </a:xfrm>
          <a:prstGeom prst="rect">
            <a:avLst/>
          </a:prstGeom>
          <a:solidFill>
            <a:srgbClr val="1E5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983480" y="114299"/>
            <a:ext cx="10972" cy="50292"/>
          </a:xfrm>
          <a:prstGeom prst="rect">
            <a:avLst/>
          </a:prstGeom>
          <a:solidFill>
            <a:srgbClr val="78B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999939" y="106382"/>
            <a:ext cx="10972" cy="58209"/>
          </a:xfrm>
          <a:prstGeom prst="rect">
            <a:avLst/>
          </a:prstGeom>
          <a:solidFill>
            <a:srgbClr val="78B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16398" y="98956"/>
            <a:ext cx="10972" cy="65635"/>
          </a:xfrm>
          <a:prstGeom prst="rect">
            <a:avLst/>
          </a:prstGeom>
          <a:solidFill>
            <a:srgbClr val="78B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32857" y="92484"/>
            <a:ext cx="10972" cy="72107"/>
          </a:xfrm>
          <a:prstGeom prst="rect">
            <a:avLst/>
          </a:prstGeom>
          <a:solidFill>
            <a:srgbClr val="78B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49316" y="87369"/>
            <a:ext cx="10972" cy="77222"/>
          </a:xfrm>
          <a:prstGeom prst="rect">
            <a:avLst/>
          </a:prstGeom>
          <a:solidFill>
            <a:srgbClr val="78B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65776" y="83928"/>
            <a:ext cx="10972" cy="80663"/>
          </a:xfrm>
          <a:prstGeom prst="rect">
            <a:avLst/>
          </a:prstGeom>
          <a:solidFill>
            <a:srgbClr val="78B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82235" y="82376"/>
            <a:ext cx="10972" cy="82215"/>
          </a:xfrm>
          <a:prstGeom prst="rect">
            <a:avLst/>
          </a:prstGeom>
          <a:solidFill>
            <a:srgbClr val="78B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98694" y="82808"/>
            <a:ext cx="10972" cy="81783"/>
          </a:xfrm>
          <a:prstGeom prst="rect">
            <a:avLst/>
          </a:prstGeom>
          <a:solidFill>
            <a:srgbClr val="78B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115153" y="85198"/>
            <a:ext cx="10972" cy="79393"/>
          </a:xfrm>
          <a:prstGeom prst="rect">
            <a:avLst/>
          </a:prstGeom>
          <a:solidFill>
            <a:srgbClr val="78B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131612" y="89398"/>
            <a:ext cx="10972" cy="75193"/>
          </a:xfrm>
          <a:prstGeom prst="rect">
            <a:avLst/>
          </a:prstGeom>
          <a:solidFill>
            <a:srgbClr val="78B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148072" y="95146"/>
            <a:ext cx="10972" cy="69445"/>
          </a:xfrm>
          <a:prstGeom prst="rect">
            <a:avLst/>
          </a:prstGeom>
          <a:solidFill>
            <a:srgbClr val="78B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164531" y="102085"/>
            <a:ext cx="10972" cy="62506"/>
          </a:xfrm>
          <a:prstGeom prst="rect">
            <a:avLst/>
          </a:prstGeom>
          <a:solidFill>
            <a:srgbClr val="78B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180990" y="109783"/>
            <a:ext cx="10972" cy="54808"/>
          </a:xfrm>
          <a:prstGeom prst="rect">
            <a:avLst/>
          </a:prstGeom>
          <a:solidFill>
            <a:srgbClr val="78B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197449" y="117762"/>
            <a:ext cx="10972" cy="46829"/>
          </a:xfrm>
          <a:prstGeom prst="rect">
            <a:avLst/>
          </a:prstGeom>
          <a:solidFill>
            <a:srgbClr val="78B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213908" y="125526"/>
            <a:ext cx="10972" cy="39065"/>
          </a:xfrm>
          <a:prstGeom prst="rect">
            <a:avLst/>
          </a:prstGeom>
          <a:solidFill>
            <a:srgbClr val="78B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230368" y="132592"/>
            <a:ext cx="10972" cy="31999"/>
          </a:xfrm>
          <a:prstGeom prst="rect">
            <a:avLst/>
          </a:prstGeom>
          <a:solidFill>
            <a:srgbClr val="78B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246827" y="138520"/>
            <a:ext cx="10972" cy="26071"/>
          </a:xfrm>
          <a:prstGeom prst="rect">
            <a:avLst/>
          </a:prstGeom>
          <a:solidFill>
            <a:srgbClr val="78B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263286" y="142943"/>
            <a:ext cx="10972" cy="21648"/>
          </a:xfrm>
          <a:prstGeom prst="rect">
            <a:avLst/>
          </a:prstGeom>
          <a:solidFill>
            <a:srgbClr val="78B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279745" y="145584"/>
            <a:ext cx="10972" cy="19007"/>
          </a:xfrm>
          <a:prstGeom prst="rect">
            <a:avLst/>
          </a:prstGeom>
          <a:solidFill>
            <a:srgbClr val="78B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296204" y="146281"/>
            <a:ext cx="10972" cy="18310"/>
          </a:xfrm>
          <a:prstGeom prst="rect">
            <a:avLst/>
          </a:prstGeom>
          <a:solidFill>
            <a:srgbClr val="78B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312664" y="144989"/>
            <a:ext cx="10972" cy="19602"/>
          </a:xfrm>
          <a:prstGeom prst="rect">
            <a:avLst/>
          </a:prstGeom>
          <a:solidFill>
            <a:srgbClr val="78B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329123" y="141789"/>
            <a:ext cx="10972" cy="22802"/>
          </a:xfrm>
          <a:prstGeom prst="rect">
            <a:avLst/>
          </a:prstGeom>
          <a:solidFill>
            <a:srgbClr val="78B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345582" y="136880"/>
            <a:ext cx="10972" cy="27711"/>
          </a:xfrm>
          <a:prstGeom prst="rect">
            <a:avLst/>
          </a:prstGeom>
          <a:solidFill>
            <a:srgbClr val="78B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362041" y="130566"/>
            <a:ext cx="10972" cy="34025"/>
          </a:xfrm>
          <a:prstGeom prst="rect">
            <a:avLst/>
          </a:prstGeom>
          <a:solidFill>
            <a:srgbClr val="78B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378500" y="123242"/>
            <a:ext cx="10972" cy="41349"/>
          </a:xfrm>
          <a:prstGeom prst="rect">
            <a:avLst/>
          </a:prstGeom>
          <a:solidFill>
            <a:srgbClr val="78B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394960" y="115361"/>
            <a:ext cx="10972" cy="49230"/>
          </a:xfrm>
          <a:prstGeom prst="rect">
            <a:avLst/>
          </a:prstGeom>
          <a:solidFill>
            <a:srgbClr val="78B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411419" y="107415"/>
            <a:ext cx="10972" cy="57176"/>
          </a:xfrm>
          <a:prstGeom prst="rect">
            <a:avLst/>
          </a:prstGeom>
          <a:solidFill>
            <a:srgbClr val="78B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427878" y="99896"/>
            <a:ext cx="10972" cy="64695"/>
          </a:xfrm>
          <a:prstGeom prst="rect">
            <a:avLst/>
          </a:prstGeom>
          <a:solidFill>
            <a:srgbClr val="78B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44337" y="93273"/>
            <a:ext cx="10972" cy="71318"/>
          </a:xfrm>
          <a:prstGeom prst="rect">
            <a:avLst/>
          </a:prstGeom>
          <a:solidFill>
            <a:srgbClr val="78B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460796" y="87958"/>
            <a:ext cx="10972" cy="76633"/>
          </a:xfrm>
          <a:prstGeom prst="rect">
            <a:avLst/>
          </a:prstGeom>
          <a:solidFill>
            <a:srgbClr val="78B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477256" y="84280"/>
            <a:ext cx="10972" cy="80311"/>
          </a:xfrm>
          <a:prstGeom prst="rect">
            <a:avLst/>
          </a:prstGeom>
          <a:solidFill>
            <a:srgbClr val="78B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493715" y="82468"/>
            <a:ext cx="10972" cy="82123"/>
          </a:xfrm>
          <a:prstGeom prst="rect">
            <a:avLst/>
          </a:prstGeom>
          <a:solidFill>
            <a:srgbClr val="78B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510174" y="82636"/>
            <a:ext cx="10972" cy="81955"/>
          </a:xfrm>
          <a:prstGeom prst="rect">
            <a:avLst/>
          </a:prstGeom>
          <a:solidFill>
            <a:srgbClr val="78B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526633" y="84772"/>
            <a:ext cx="10972" cy="79819"/>
          </a:xfrm>
          <a:prstGeom prst="rect">
            <a:avLst/>
          </a:prstGeom>
          <a:solidFill>
            <a:srgbClr val="78B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543092" y="88745"/>
            <a:ext cx="10972" cy="75846"/>
          </a:xfrm>
          <a:prstGeom prst="rect">
            <a:avLst/>
          </a:prstGeom>
          <a:solidFill>
            <a:srgbClr val="78B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559552" y="94306"/>
            <a:ext cx="10972" cy="70285"/>
          </a:xfrm>
          <a:prstGeom prst="rect">
            <a:avLst/>
          </a:prstGeom>
          <a:solidFill>
            <a:srgbClr val="78B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576011" y="101110"/>
            <a:ext cx="10972" cy="63481"/>
          </a:xfrm>
          <a:prstGeom prst="rect">
            <a:avLst/>
          </a:prstGeom>
          <a:solidFill>
            <a:srgbClr val="78B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592470" y="108734"/>
            <a:ext cx="10972" cy="55857"/>
          </a:xfrm>
          <a:prstGeom prst="rect">
            <a:avLst/>
          </a:prstGeom>
          <a:solidFill>
            <a:srgbClr val="78B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608929" y="116705"/>
            <a:ext cx="10972" cy="47886"/>
          </a:xfrm>
          <a:prstGeom prst="rect">
            <a:avLst/>
          </a:prstGeom>
          <a:solidFill>
            <a:srgbClr val="78B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625388" y="124525"/>
            <a:ext cx="10972" cy="40066"/>
          </a:xfrm>
          <a:prstGeom prst="rect">
            <a:avLst/>
          </a:prstGeom>
          <a:solidFill>
            <a:srgbClr val="78B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641848" y="131710"/>
            <a:ext cx="10972" cy="32881"/>
          </a:xfrm>
          <a:prstGeom prst="rect">
            <a:avLst/>
          </a:prstGeom>
          <a:solidFill>
            <a:srgbClr val="78B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658307" y="137813"/>
            <a:ext cx="10972" cy="26778"/>
          </a:xfrm>
          <a:prstGeom prst="rect">
            <a:avLst/>
          </a:prstGeom>
          <a:solidFill>
            <a:srgbClr val="78B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674766" y="142453"/>
            <a:ext cx="10972" cy="22138"/>
          </a:xfrm>
          <a:prstGeom prst="rect">
            <a:avLst/>
          </a:prstGeom>
          <a:solidFill>
            <a:srgbClr val="78B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5691225" y="145343"/>
            <a:ext cx="10972" cy="19248"/>
          </a:xfrm>
          <a:prstGeom prst="rect">
            <a:avLst/>
          </a:prstGeom>
          <a:solidFill>
            <a:srgbClr val="78B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707684" y="146303"/>
            <a:ext cx="10972" cy="18288"/>
          </a:xfrm>
          <a:prstGeom prst="rect">
            <a:avLst/>
          </a:prstGeom>
          <a:solidFill>
            <a:srgbClr val="78B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724144" y="145273"/>
            <a:ext cx="10972" cy="19318"/>
          </a:xfrm>
          <a:prstGeom prst="rect">
            <a:avLst/>
          </a:prstGeom>
          <a:solidFill>
            <a:srgbClr val="78B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740603" y="142317"/>
            <a:ext cx="10972" cy="22274"/>
          </a:xfrm>
          <a:prstGeom prst="rect">
            <a:avLst/>
          </a:prstGeom>
          <a:solidFill>
            <a:srgbClr val="78B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5757062" y="137620"/>
            <a:ext cx="10972" cy="26971"/>
          </a:xfrm>
          <a:prstGeom prst="rect">
            <a:avLst/>
          </a:prstGeom>
          <a:solidFill>
            <a:srgbClr val="78B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5773521" y="131472"/>
            <a:ext cx="10972" cy="33119"/>
          </a:xfrm>
          <a:prstGeom prst="rect">
            <a:avLst/>
          </a:prstGeom>
          <a:solidFill>
            <a:srgbClr val="78B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789980" y="124257"/>
            <a:ext cx="10972" cy="40334"/>
          </a:xfrm>
          <a:prstGeom prst="rect">
            <a:avLst/>
          </a:prstGeom>
          <a:solidFill>
            <a:srgbClr val="78B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806440" y="116422"/>
            <a:ext cx="10972" cy="48169"/>
          </a:xfrm>
          <a:prstGeom prst="rect">
            <a:avLst/>
          </a:prstGeom>
          <a:solidFill>
            <a:srgbClr val="78B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822899" y="108456"/>
            <a:ext cx="10972" cy="56135"/>
          </a:xfrm>
          <a:prstGeom prst="rect">
            <a:avLst/>
          </a:prstGeom>
          <a:solidFill>
            <a:srgbClr val="78B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839358" y="100852"/>
            <a:ext cx="10972" cy="63739"/>
          </a:xfrm>
          <a:prstGeom prst="rect">
            <a:avLst/>
          </a:prstGeom>
          <a:solidFill>
            <a:srgbClr val="78B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855817" y="94085"/>
            <a:ext cx="10972" cy="70506"/>
          </a:xfrm>
          <a:prstGeom prst="rect">
            <a:avLst/>
          </a:prstGeom>
          <a:solidFill>
            <a:srgbClr val="78B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872276" y="88575"/>
            <a:ext cx="10972" cy="76016"/>
          </a:xfrm>
          <a:prstGeom prst="rect">
            <a:avLst/>
          </a:prstGeom>
          <a:solidFill>
            <a:srgbClr val="78B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903720" y="32004"/>
            <a:ext cx="1737360" cy="731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80" b="0">
                <a:solidFill>
                  <a:srgbClr val="FFFFFF"/>
                </a:solidFill>
                <a:latin typeface="Noto Sans CJK SC"/>
              </a:rPr>
              <a:t>Huazhong University of Science and Technology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82880" y="274320"/>
            <a:ext cx="6217920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200" b="1">
                <a:solidFill>
                  <a:srgbClr val="1243A3"/>
                </a:solidFill>
                <a:latin typeface="Noto Sans CJK SC"/>
              </a:rPr>
              <a:t>研究挑战2 - </a:t>
            </a:r>
            <a:r>
              <a:rPr sz="2200" b="1">
                <a:solidFill>
                  <a:srgbClr val="CD0000"/>
                </a:solidFill>
                <a:latin typeface="Noto Sans CJK SC"/>
              </a:rPr>
              <a:t>推理中间状态新形态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82880" y="694944"/>
            <a:ext cx="7498079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350" b="1">
                <a:solidFill>
                  <a:srgbClr val="000000"/>
                </a:solidFill>
                <a:latin typeface="Noto Sans CJK SC"/>
              </a:rPr>
              <a:t>▸ 长上下文、Prefix / Segment 复用、投机解码与多轮 Agent 正在</a:t>
            </a:r>
            <a:r>
              <a:rPr sz="1350" b="1">
                <a:solidFill>
                  <a:srgbClr val="CD0000"/>
                </a:solidFill>
                <a:latin typeface="Noto Sans CJK SC"/>
              </a:rPr>
              <a:t>快速重塑推理中间状态。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01168" y="1042415"/>
            <a:ext cx="4041648" cy="3401568"/>
          </a:xfrm>
          <a:prstGeom prst="rect">
            <a:avLst/>
          </a:prstGeom>
          <a:solidFill>
            <a:srgbClr val="FFFFFF"/>
          </a:solidFill>
          <a:ln w="11430">
            <a:solidFill>
              <a:srgbClr val="406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4480560" y="1042415"/>
            <a:ext cx="4389120" cy="3401568"/>
          </a:xfrm>
          <a:prstGeom prst="rect">
            <a:avLst/>
          </a:prstGeom>
          <a:solidFill>
            <a:srgbClr val="FFFFFF"/>
          </a:solidFill>
          <a:ln w="11430">
            <a:solidFill>
              <a:srgbClr val="406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3" name="Connector 62"/>
          <p:cNvCxnSpPr/>
          <p:nvPr/>
        </p:nvCxnSpPr>
        <p:spPr>
          <a:xfrm>
            <a:off x="219456" y="2157984"/>
            <a:ext cx="4005072" cy="0"/>
          </a:xfrm>
          <a:prstGeom prst="line">
            <a:avLst/>
          </a:prstGeom>
          <a:ln w="10160">
            <a:solidFill>
              <a:srgbClr val="5884D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219456" y="3273552"/>
            <a:ext cx="4005072" cy="0"/>
          </a:xfrm>
          <a:prstGeom prst="line">
            <a:avLst/>
          </a:prstGeom>
          <a:ln w="10160">
            <a:solidFill>
              <a:srgbClr val="5884D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Right Triangle 64"/>
          <p:cNvSpPr/>
          <p:nvPr/>
        </p:nvSpPr>
        <p:spPr>
          <a:xfrm>
            <a:off x="4178808" y="1719072"/>
            <a:ext cx="256032" cy="320040"/>
          </a:xfrm>
          <a:prstGeom prst="rtTriangle">
            <a:avLst/>
          </a:prstGeom>
          <a:solidFill>
            <a:srgbClr val="87A5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ight Triangle 65"/>
          <p:cNvSpPr/>
          <p:nvPr/>
        </p:nvSpPr>
        <p:spPr>
          <a:xfrm>
            <a:off x="4178808" y="2834640"/>
            <a:ext cx="256032" cy="320040"/>
          </a:xfrm>
          <a:prstGeom prst="rtTriangle">
            <a:avLst/>
          </a:prstGeom>
          <a:solidFill>
            <a:srgbClr val="87A5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ight Triangle 66"/>
          <p:cNvSpPr/>
          <p:nvPr/>
        </p:nvSpPr>
        <p:spPr>
          <a:xfrm>
            <a:off x="4178808" y="3840480"/>
            <a:ext cx="256032" cy="320040"/>
          </a:xfrm>
          <a:prstGeom prst="rtTriangle">
            <a:avLst/>
          </a:prstGeom>
          <a:solidFill>
            <a:srgbClr val="87A5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29768" y="1143000"/>
            <a:ext cx="123444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19" b="1">
                <a:solidFill>
                  <a:srgbClr val="008C96"/>
                </a:solidFill>
                <a:latin typeface="Noto Sans CJK SC"/>
              </a:rPr>
              <a:t>KV Cache / Page Block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10896" y="1417319"/>
            <a:ext cx="150876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000000"/>
                </a:solidFill>
                <a:latin typeface="Noto Sans CJK SC"/>
              </a:rPr>
              <a:t>连续 KV 张量 → 分页块 / block table
长上下文下显存占用、碎片与换入换出显著增加。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1847088" y="1170432"/>
            <a:ext cx="164592" cy="109728"/>
          </a:xfrm>
          <a:prstGeom prst="roundRect">
            <a:avLst/>
          </a:prstGeom>
          <a:solidFill>
            <a:srgbClr val="5C9EDC"/>
          </a:solidFill>
          <a:ln w="11430">
            <a:solidFill>
              <a:srgbClr val="648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2066543" y="1170432"/>
            <a:ext cx="164592" cy="109728"/>
          </a:xfrm>
          <a:prstGeom prst="roundRect">
            <a:avLst/>
          </a:prstGeom>
          <a:solidFill>
            <a:srgbClr val="D2EAFF"/>
          </a:solidFill>
          <a:ln w="11430">
            <a:solidFill>
              <a:srgbClr val="648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>
            <a:off x="2286000" y="1170432"/>
            <a:ext cx="164592" cy="109728"/>
          </a:xfrm>
          <a:prstGeom prst="roundRect">
            <a:avLst/>
          </a:prstGeom>
          <a:solidFill>
            <a:srgbClr val="D2EAFF"/>
          </a:solidFill>
          <a:ln w="11430">
            <a:solidFill>
              <a:srgbClr val="648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ounded Rectangle 72"/>
          <p:cNvSpPr/>
          <p:nvPr/>
        </p:nvSpPr>
        <p:spPr>
          <a:xfrm>
            <a:off x="2505456" y="1170432"/>
            <a:ext cx="164592" cy="109728"/>
          </a:xfrm>
          <a:prstGeom prst="roundRect">
            <a:avLst/>
          </a:prstGeom>
          <a:solidFill>
            <a:srgbClr val="5C9EDC"/>
          </a:solidFill>
          <a:ln w="11430">
            <a:solidFill>
              <a:srgbClr val="648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2724912" y="1170432"/>
            <a:ext cx="164592" cy="109728"/>
          </a:xfrm>
          <a:prstGeom prst="roundRect">
            <a:avLst/>
          </a:prstGeom>
          <a:solidFill>
            <a:srgbClr val="D2EAFF"/>
          </a:solidFill>
          <a:ln w="11430">
            <a:solidFill>
              <a:srgbClr val="648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ounded Rectangle 74"/>
          <p:cNvSpPr/>
          <p:nvPr/>
        </p:nvSpPr>
        <p:spPr>
          <a:xfrm>
            <a:off x="2944368" y="1170432"/>
            <a:ext cx="164592" cy="109728"/>
          </a:xfrm>
          <a:prstGeom prst="roundRect">
            <a:avLst/>
          </a:prstGeom>
          <a:solidFill>
            <a:srgbClr val="D2EAFF"/>
          </a:solidFill>
          <a:ln w="11430">
            <a:solidFill>
              <a:srgbClr val="648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ounded Rectangle 75"/>
          <p:cNvSpPr/>
          <p:nvPr/>
        </p:nvSpPr>
        <p:spPr>
          <a:xfrm>
            <a:off x="1847088" y="1335024"/>
            <a:ext cx="164592" cy="109728"/>
          </a:xfrm>
          <a:prstGeom prst="roundRect">
            <a:avLst/>
          </a:prstGeom>
          <a:solidFill>
            <a:srgbClr val="D2EAFF"/>
          </a:solidFill>
          <a:ln w="11430">
            <a:solidFill>
              <a:srgbClr val="648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ounded Rectangle 76"/>
          <p:cNvSpPr/>
          <p:nvPr/>
        </p:nvSpPr>
        <p:spPr>
          <a:xfrm>
            <a:off x="2066543" y="1335024"/>
            <a:ext cx="164592" cy="109728"/>
          </a:xfrm>
          <a:prstGeom prst="roundRect">
            <a:avLst/>
          </a:prstGeom>
          <a:solidFill>
            <a:srgbClr val="D2EAFF"/>
          </a:solidFill>
          <a:ln w="11430">
            <a:solidFill>
              <a:srgbClr val="648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ounded Rectangle 77"/>
          <p:cNvSpPr/>
          <p:nvPr/>
        </p:nvSpPr>
        <p:spPr>
          <a:xfrm>
            <a:off x="2286000" y="1335024"/>
            <a:ext cx="164592" cy="109728"/>
          </a:xfrm>
          <a:prstGeom prst="roundRect">
            <a:avLst/>
          </a:prstGeom>
          <a:solidFill>
            <a:srgbClr val="5C9EDC"/>
          </a:solidFill>
          <a:ln w="11430">
            <a:solidFill>
              <a:srgbClr val="648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ounded Rectangle 78"/>
          <p:cNvSpPr/>
          <p:nvPr/>
        </p:nvSpPr>
        <p:spPr>
          <a:xfrm>
            <a:off x="2505456" y="1335024"/>
            <a:ext cx="164592" cy="109728"/>
          </a:xfrm>
          <a:prstGeom prst="roundRect">
            <a:avLst/>
          </a:prstGeom>
          <a:solidFill>
            <a:srgbClr val="D2EAFF"/>
          </a:solidFill>
          <a:ln w="11430">
            <a:solidFill>
              <a:srgbClr val="648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ounded Rectangle 79"/>
          <p:cNvSpPr/>
          <p:nvPr/>
        </p:nvSpPr>
        <p:spPr>
          <a:xfrm>
            <a:off x="2724912" y="1335024"/>
            <a:ext cx="164592" cy="109728"/>
          </a:xfrm>
          <a:prstGeom prst="roundRect">
            <a:avLst/>
          </a:prstGeom>
          <a:solidFill>
            <a:srgbClr val="D2EAFF"/>
          </a:solidFill>
          <a:ln w="11430">
            <a:solidFill>
              <a:srgbClr val="648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ounded Rectangle 80"/>
          <p:cNvSpPr/>
          <p:nvPr/>
        </p:nvSpPr>
        <p:spPr>
          <a:xfrm>
            <a:off x="2944368" y="1335024"/>
            <a:ext cx="164592" cy="109728"/>
          </a:xfrm>
          <a:prstGeom prst="roundRect">
            <a:avLst/>
          </a:prstGeom>
          <a:solidFill>
            <a:srgbClr val="5C9EDC"/>
          </a:solidFill>
          <a:ln w="11430">
            <a:solidFill>
              <a:srgbClr val="648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ounded Rectangle 81"/>
          <p:cNvSpPr/>
          <p:nvPr/>
        </p:nvSpPr>
        <p:spPr>
          <a:xfrm>
            <a:off x="1847088" y="1499616"/>
            <a:ext cx="164592" cy="109728"/>
          </a:xfrm>
          <a:prstGeom prst="roundRect">
            <a:avLst/>
          </a:prstGeom>
          <a:solidFill>
            <a:srgbClr val="D2EAFF"/>
          </a:solidFill>
          <a:ln w="11430">
            <a:solidFill>
              <a:srgbClr val="648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ounded Rectangle 82"/>
          <p:cNvSpPr/>
          <p:nvPr/>
        </p:nvSpPr>
        <p:spPr>
          <a:xfrm>
            <a:off x="2066543" y="1499616"/>
            <a:ext cx="164592" cy="109728"/>
          </a:xfrm>
          <a:prstGeom prst="roundRect">
            <a:avLst/>
          </a:prstGeom>
          <a:solidFill>
            <a:srgbClr val="5C9EDC"/>
          </a:solidFill>
          <a:ln w="11430">
            <a:solidFill>
              <a:srgbClr val="648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ounded Rectangle 83"/>
          <p:cNvSpPr/>
          <p:nvPr/>
        </p:nvSpPr>
        <p:spPr>
          <a:xfrm>
            <a:off x="2286000" y="1499616"/>
            <a:ext cx="164592" cy="109728"/>
          </a:xfrm>
          <a:prstGeom prst="roundRect">
            <a:avLst/>
          </a:prstGeom>
          <a:solidFill>
            <a:srgbClr val="D2EAFF"/>
          </a:solidFill>
          <a:ln w="11430">
            <a:solidFill>
              <a:srgbClr val="648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ounded Rectangle 84"/>
          <p:cNvSpPr/>
          <p:nvPr/>
        </p:nvSpPr>
        <p:spPr>
          <a:xfrm>
            <a:off x="2505456" y="1499616"/>
            <a:ext cx="164592" cy="109728"/>
          </a:xfrm>
          <a:prstGeom prst="roundRect">
            <a:avLst/>
          </a:prstGeom>
          <a:solidFill>
            <a:srgbClr val="D2EAFF"/>
          </a:solidFill>
          <a:ln w="11430">
            <a:solidFill>
              <a:srgbClr val="648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ounded Rectangle 85"/>
          <p:cNvSpPr/>
          <p:nvPr/>
        </p:nvSpPr>
        <p:spPr>
          <a:xfrm>
            <a:off x="2724912" y="1499616"/>
            <a:ext cx="164592" cy="109728"/>
          </a:xfrm>
          <a:prstGeom prst="roundRect">
            <a:avLst/>
          </a:prstGeom>
          <a:solidFill>
            <a:srgbClr val="5C9EDC"/>
          </a:solidFill>
          <a:ln w="11430">
            <a:solidFill>
              <a:srgbClr val="648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ounded Rectangle 86"/>
          <p:cNvSpPr/>
          <p:nvPr/>
        </p:nvSpPr>
        <p:spPr>
          <a:xfrm>
            <a:off x="2944368" y="1499616"/>
            <a:ext cx="164592" cy="109728"/>
          </a:xfrm>
          <a:prstGeom prst="roundRect">
            <a:avLst/>
          </a:prstGeom>
          <a:solidFill>
            <a:srgbClr val="D2EAFF"/>
          </a:solidFill>
          <a:ln w="11430">
            <a:solidFill>
              <a:srgbClr val="648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3246120" y="1170432"/>
            <a:ext cx="502920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550" b="1">
                <a:solidFill>
                  <a:srgbClr val="505A69"/>
                </a:solidFill>
                <a:latin typeface="Noto Sans CJK SC"/>
              </a:rPr>
              <a:t>Block Table</a:t>
            </a:r>
          </a:p>
        </p:txBody>
      </p:sp>
      <p:sp>
        <p:nvSpPr>
          <p:cNvPr id="89" name="Rectangle 88"/>
          <p:cNvSpPr/>
          <p:nvPr/>
        </p:nvSpPr>
        <p:spPr>
          <a:xfrm>
            <a:off x="3246120" y="1335024"/>
            <a:ext cx="329184" cy="73152"/>
          </a:xfrm>
          <a:prstGeom prst="rect">
            <a:avLst/>
          </a:prstGeom>
          <a:solidFill>
            <a:srgbClr val="F5F8FC"/>
          </a:solidFill>
          <a:ln w="11430">
            <a:solidFill>
              <a:srgbClr val="648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3246120" y="1453895"/>
            <a:ext cx="329184" cy="73152"/>
          </a:xfrm>
          <a:prstGeom prst="rect">
            <a:avLst/>
          </a:prstGeom>
          <a:solidFill>
            <a:srgbClr val="F5F8FC"/>
          </a:solidFill>
          <a:ln w="11430">
            <a:solidFill>
              <a:srgbClr val="648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3246120" y="1572768"/>
            <a:ext cx="329184" cy="73152"/>
          </a:xfrm>
          <a:prstGeom prst="rect">
            <a:avLst/>
          </a:prstGeom>
          <a:solidFill>
            <a:srgbClr val="F5F8FC"/>
          </a:solidFill>
          <a:ln w="11430">
            <a:solidFill>
              <a:srgbClr val="648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3246120" y="1691640"/>
            <a:ext cx="329184" cy="73152"/>
          </a:xfrm>
          <a:prstGeom prst="rect">
            <a:avLst/>
          </a:prstGeom>
          <a:solidFill>
            <a:srgbClr val="F5F8FC"/>
          </a:solidFill>
          <a:ln w="11430">
            <a:solidFill>
              <a:srgbClr val="648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29768" y="2258568"/>
            <a:ext cx="123444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19" b="1">
                <a:solidFill>
                  <a:srgbClr val="2DA055"/>
                </a:solidFill>
                <a:latin typeface="Noto Sans CJK SC"/>
              </a:rPr>
              <a:t>Prefix / Segment Reuse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310896" y="2532888"/>
            <a:ext cx="150876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000000"/>
                </a:solidFill>
                <a:latin typeface="Noto Sans CJK SC"/>
              </a:rPr>
              <a:t>系统提示、RAG 片段、共享前缀成为可复用状态
命中率、边界与版本一致性决定收益。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1847088" y="2560320"/>
            <a:ext cx="192024" cy="128016"/>
          </a:xfrm>
          <a:prstGeom prst="roundRect">
            <a:avLst/>
          </a:prstGeom>
          <a:solidFill>
            <a:srgbClr val="B4E1BE"/>
          </a:solidFill>
          <a:ln w="11430">
            <a:solidFill>
              <a:srgbClr val="508C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ounded Rectangle 95"/>
          <p:cNvSpPr/>
          <p:nvPr/>
        </p:nvSpPr>
        <p:spPr>
          <a:xfrm>
            <a:off x="2093976" y="2560320"/>
            <a:ext cx="192024" cy="128016"/>
          </a:xfrm>
          <a:prstGeom prst="roundRect">
            <a:avLst/>
          </a:prstGeom>
          <a:solidFill>
            <a:srgbClr val="B4E1BE"/>
          </a:solidFill>
          <a:ln w="11430">
            <a:solidFill>
              <a:srgbClr val="508C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ounded Rectangle 96"/>
          <p:cNvSpPr/>
          <p:nvPr/>
        </p:nvSpPr>
        <p:spPr>
          <a:xfrm>
            <a:off x="2340864" y="2560320"/>
            <a:ext cx="192024" cy="128016"/>
          </a:xfrm>
          <a:prstGeom prst="roundRect">
            <a:avLst/>
          </a:prstGeom>
          <a:solidFill>
            <a:srgbClr val="B4E1BE"/>
          </a:solidFill>
          <a:ln w="11430">
            <a:solidFill>
              <a:srgbClr val="508C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ounded Rectangle 97"/>
          <p:cNvSpPr/>
          <p:nvPr/>
        </p:nvSpPr>
        <p:spPr>
          <a:xfrm>
            <a:off x="2587752" y="2560320"/>
            <a:ext cx="192024" cy="128016"/>
          </a:xfrm>
          <a:prstGeom prst="roundRect">
            <a:avLst/>
          </a:prstGeom>
          <a:solidFill>
            <a:srgbClr val="B4E1BE"/>
          </a:solidFill>
          <a:ln w="11430">
            <a:solidFill>
              <a:srgbClr val="508C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ounded Rectangle 98"/>
          <p:cNvSpPr/>
          <p:nvPr/>
        </p:nvSpPr>
        <p:spPr>
          <a:xfrm>
            <a:off x="2990088" y="2359152"/>
            <a:ext cx="173736" cy="109728"/>
          </a:xfrm>
          <a:prstGeom prst="roundRect">
            <a:avLst/>
          </a:prstGeom>
          <a:solidFill>
            <a:srgbClr val="DCEEFF"/>
          </a:solidFill>
          <a:ln w="11430">
            <a:solidFill>
              <a:srgbClr val="648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ounded Rectangle 99"/>
          <p:cNvSpPr/>
          <p:nvPr/>
        </p:nvSpPr>
        <p:spPr>
          <a:xfrm>
            <a:off x="3218688" y="2359152"/>
            <a:ext cx="173736" cy="109728"/>
          </a:xfrm>
          <a:prstGeom prst="roundRect">
            <a:avLst/>
          </a:prstGeom>
          <a:solidFill>
            <a:srgbClr val="DCEEFF"/>
          </a:solidFill>
          <a:ln w="11430">
            <a:solidFill>
              <a:srgbClr val="648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ounded Rectangle 100"/>
          <p:cNvSpPr/>
          <p:nvPr/>
        </p:nvSpPr>
        <p:spPr>
          <a:xfrm>
            <a:off x="3447288" y="2359152"/>
            <a:ext cx="173736" cy="109728"/>
          </a:xfrm>
          <a:prstGeom prst="roundRect">
            <a:avLst/>
          </a:prstGeom>
          <a:solidFill>
            <a:srgbClr val="DCEEFF"/>
          </a:solidFill>
          <a:ln w="11430">
            <a:solidFill>
              <a:srgbClr val="648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2" name="Connector 101"/>
          <p:cNvCxnSpPr/>
          <p:nvPr/>
        </p:nvCxnSpPr>
        <p:spPr>
          <a:xfrm flipV="1">
            <a:off x="2779776" y="2414016"/>
            <a:ext cx="210312" cy="210312"/>
          </a:xfrm>
          <a:prstGeom prst="line">
            <a:avLst/>
          </a:prstGeom>
          <a:ln w="11430">
            <a:solidFill>
              <a:srgbClr val="508C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" name="Rounded Rectangle 102"/>
          <p:cNvSpPr/>
          <p:nvPr/>
        </p:nvSpPr>
        <p:spPr>
          <a:xfrm>
            <a:off x="2990088" y="2560320"/>
            <a:ext cx="173736" cy="109728"/>
          </a:xfrm>
          <a:prstGeom prst="roundRect">
            <a:avLst/>
          </a:prstGeom>
          <a:solidFill>
            <a:srgbClr val="DCEEFF"/>
          </a:solidFill>
          <a:ln w="11430">
            <a:solidFill>
              <a:srgbClr val="648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ounded Rectangle 103"/>
          <p:cNvSpPr/>
          <p:nvPr/>
        </p:nvSpPr>
        <p:spPr>
          <a:xfrm>
            <a:off x="3218688" y="2560320"/>
            <a:ext cx="173736" cy="109728"/>
          </a:xfrm>
          <a:prstGeom prst="roundRect">
            <a:avLst/>
          </a:prstGeom>
          <a:solidFill>
            <a:srgbClr val="DCEEFF"/>
          </a:solidFill>
          <a:ln w="11430">
            <a:solidFill>
              <a:srgbClr val="648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ounded Rectangle 104"/>
          <p:cNvSpPr/>
          <p:nvPr/>
        </p:nvSpPr>
        <p:spPr>
          <a:xfrm>
            <a:off x="3447288" y="2560320"/>
            <a:ext cx="173736" cy="109728"/>
          </a:xfrm>
          <a:prstGeom prst="roundRect">
            <a:avLst/>
          </a:prstGeom>
          <a:solidFill>
            <a:srgbClr val="DCEEFF"/>
          </a:solidFill>
          <a:ln w="11430">
            <a:solidFill>
              <a:srgbClr val="648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6" name="Connector 105"/>
          <p:cNvCxnSpPr/>
          <p:nvPr/>
        </p:nvCxnSpPr>
        <p:spPr>
          <a:xfrm flipV="1">
            <a:off x="2779776" y="2615184"/>
            <a:ext cx="210312" cy="9144"/>
          </a:xfrm>
          <a:prstGeom prst="line">
            <a:avLst/>
          </a:prstGeom>
          <a:ln w="11430">
            <a:solidFill>
              <a:srgbClr val="508C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7" name="Rounded Rectangle 106"/>
          <p:cNvSpPr/>
          <p:nvPr/>
        </p:nvSpPr>
        <p:spPr>
          <a:xfrm>
            <a:off x="2990088" y="2761488"/>
            <a:ext cx="173736" cy="109728"/>
          </a:xfrm>
          <a:prstGeom prst="roundRect">
            <a:avLst/>
          </a:prstGeom>
          <a:solidFill>
            <a:srgbClr val="DCEEFF"/>
          </a:solidFill>
          <a:ln w="11430">
            <a:solidFill>
              <a:srgbClr val="648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ounded Rectangle 107"/>
          <p:cNvSpPr/>
          <p:nvPr/>
        </p:nvSpPr>
        <p:spPr>
          <a:xfrm>
            <a:off x="3218688" y="2761488"/>
            <a:ext cx="173736" cy="109728"/>
          </a:xfrm>
          <a:prstGeom prst="roundRect">
            <a:avLst/>
          </a:prstGeom>
          <a:solidFill>
            <a:srgbClr val="DCEEFF"/>
          </a:solidFill>
          <a:ln w="11430">
            <a:solidFill>
              <a:srgbClr val="648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ounded Rectangle 108"/>
          <p:cNvSpPr/>
          <p:nvPr/>
        </p:nvSpPr>
        <p:spPr>
          <a:xfrm>
            <a:off x="3447288" y="2761488"/>
            <a:ext cx="173736" cy="109728"/>
          </a:xfrm>
          <a:prstGeom prst="roundRect">
            <a:avLst/>
          </a:prstGeom>
          <a:solidFill>
            <a:srgbClr val="DCEEFF"/>
          </a:solidFill>
          <a:ln w="11430">
            <a:solidFill>
              <a:srgbClr val="648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0" name="Connector 109"/>
          <p:cNvCxnSpPr/>
          <p:nvPr/>
        </p:nvCxnSpPr>
        <p:spPr>
          <a:xfrm>
            <a:off x="2779776" y="2624328"/>
            <a:ext cx="210312" cy="192024"/>
          </a:xfrm>
          <a:prstGeom prst="line">
            <a:avLst/>
          </a:prstGeom>
          <a:ln w="11430">
            <a:solidFill>
              <a:srgbClr val="508C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" name="TextBox 110"/>
          <p:cNvSpPr txBox="1"/>
          <p:nvPr/>
        </p:nvSpPr>
        <p:spPr>
          <a:xfrm>
            <a:off x="1901952" y="2304288"/>
            <a:ext cx="731520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580" b="1">
                <a:solidFill>
                  <a:srgbClr val="2DA055"/>
                </a:solidFill>
                <a:latin typeface="Noto Sans CJK SC"/>
              </a:rPr>
              <a:t>shared prefix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429768" y="3374136"/>
            <a:ext cx="123444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19" b="1">
                <a:solidFill>
                  <a:srgbClr val="EB8F22"/>
                </a:solidFill>
                <a:latin typeface="Noto Sans CJK SC"/>
              </a:rPr>
              <a:t>Speculative / Agent State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310896" y="3648456"/>
            <a:ext cx="150876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000000"/>
                </a:solidFill>
                <a:latin typeface="Noto Sans CJK SC"/>
              </a:rPr>
              <a:t>草稿树、分支 token、工具调用上下文与多轮记忆
需要保留、回滚、合并和跨请求传播。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2258568" y="3511296"/>
            <a:ext cx="164592" cy="109728"/>
          </a:xfrm>
          <a:prstGeom prst="roundRect">
            <a:avLst/>
          </a:prstGeom>
          <a:solidFill>
            <a:srgbClr val="FFDCAA"/>
          </a:solidFill>
          <a:ln w="11430">
            <a:solidFill>
              <a:srgbClr val="EB8F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ounded Rectangle 114"/>
          <p:cNvSpPr/>
          <p:nvPr/>
        </p:nvSpPr>
        <p:spPr>
          <a:xfrm>
            <a:off x="1892807" y="3840480"/>
            <a:ext cx="164592" cy="109728"/>
          </a:xfrm>
          <a:prstGeom prst="roundRect">
            <a:avLst/>
          </a:prstGeom>
          <a:solidFill>
            <a:srgbClr val="FFEBCD"/>
          </a:solidFill>
          <a:ln w="11430">
            <a:solidFill>
              <a:srgbClr val="EB8F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6" name="Connector 115"/>
          <p:cNvCxnSpPr/>
          <p:nvPr/>
        </p:nvCxnSpPr>
        <p:spPr>
          <a:xfrm flipH="1">
            <a:off x="1975103" y="3621024"/>
            <a:ext cx="365761" cy="219456"/>
          </a:xfrm>
          <a:prstGeom prst="line">
            <a:avLst/>
          </a:prstGeom>
          <a:ln w="9525">
            <a:solidFill>
              <a:srgbClr val="EB8F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7" name="Rounded Rectangle 116"/>
          <p:cNvSpPr/>
          <p:nvPr/>
        </p:nvSpPr>
        <p:spPr>
          <a:xfrm>
            <a:off x="2185415" y="3931920"/>
            <a:ext cx="164592" cy="109728"/>
          </a:xfrm>
          <a:prstGeom prst="roundRect">
            <a:avLst/>
          </a:prstGeom>
          <a:solidFill>
            <a:srgbClr val="FFEBCD"/>
          </a:solidFill>
          <a:ln w="11430">
            <a:solidFill>
              <a:srgbClr val="EB8F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8" name="Connector 117"/>
          <p:cNvCxnSpPr/>
          <p:nvPr/>
        </p:nvCxnSpPr>
        <p:spPr>
          <a:xfrm flipH="1">
            <a:off x="2267711" y="3621024"/>
            <a:ext cx="73153" cy="310896"/>
          </a:xfrm>
          <a:prstGeom prst="line">
            <a:avLst/>
          </a:prstGeom>
          <a:ln w="9525">
            <a:solidFill>
              <a:srgbClr val="EB8F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9" name="Rounded Rectangle 118"/>
          <p:cNvSpPr/>
          <p:nvPr/>
        </p:nvSpPr>
        <p:spPr>
          <a:xfrm>
            <a:off x="2478024" y="3840480"/>
            <a:ext cx="164592" cy="109728"/>
          </a:xfrm>
          <a:prstGeom prst="roundRect">
            <a:avLst/>
          </a:prstGeom>
          <a:solidFill>
            <a:srgbClr val="FFEBCD"/>
          </a:solidFill>
          <a:ln w="11430">
            <a:solidFill>
              <a:srgbClr val="EB8F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0" name="Connector 119"/>
          <p:cNvCxnSpPr/>
          <p:nvPr/>
        </p:nvCxnSpPr>
        <p:spPr>
          <a:xfrm>
            <a:off x="2340864" y="3621024"/>
            <a:ext cx="219456" cy="219456"/>
          </a:xfrm>
          <a:prstGeom prst="line">
            <a:avLst/>
          </a:prstGeom>
          <a:ln w="9525">
            <a:solidFill>
              <a:srgbClr val="EB8F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1" name="Rounded Rectangle 120"/>
          <p:cNvSpPr/>
          <p:nvPr/>
        </p:nvSpPr>
        <p:spPr>
          <a:xfrm>
            <a:off x="2770632" y="3931920"/>
            <a:ext cx="164592" cy="109728"/>
          </a:xfrm>
          <a:prstGeom prst="roundRect">
            <a:avLst/>
          </a:prstGeom>
          <a:solidFill>
            <a:srgbClr val="FFEBCD"/>
          </a:solidFill>
          <a:ln w="11430">
            <a:solidFill>
              <a:srgbClr val="EB8F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2" name="Connector 121"/>
          <p:cNvCxnSpPr/>
          <p:nvPr/>
        </p:nvCxnSpPr>
        <p:spPr>
          <a:xfrm>
            <a:off x="2340864" y="3621024"/>
            <a:ext cx="512063" cy="310896"/>
          </a:xfrm>
          <a:prstGeom prst="line">
            <a:avLst/>
          </a:prstGeom>
          <a:ln w="9525">
            <a:solidFill>
              <a:srgbClr val="EB8F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3" name="Rounded Rectangle 122"/>
          <p:cNvSpPr/>
          <p:nvPr/>
        </p:nvSpPr>
        <p:spPr>
          <a:xfrm>
            <a:off x="3063239" y="3840480"/>
            <a:ext cx="164592" cy="109728"/>
          </a:xfrm>
          <a:prstGeom prst="roundRect">
            <a:avLst/>
          </a:prstGeom>
          <a:solidFill>
            <a:srgbClr val="FFEBCD"/>
          </a:solidFill>
          <a:ln w="11430">
            <a:solidFill>
              <a:srgbClr val="EB8F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4" name="Connector 123"/>
          <p:cNvCxnSpPr/>
          <p:nvPr/>
        </p:nvCxnSpPr>
        <p:spPr>
          <a:xfrm>
            <a:off x="2340864" y="3621024"/>
            <a:ext cx="804671" cy="219456"/>
          </a:xfrm>
          <a:prstGeom prst="line">
            <a:avLst/>
          </a:prstGeom>
          <a:ln w="9525">
            <a:solidFill>
              <a:srgbClr val="EB8F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5" name="Rounded Rectangle 124"/>
          <p:cNvSpPr/>
          <p:nvPr/>
        </p:nvSpPr>
        <p:spPr>
          <a:xfrm>
            <a:off x="3063240" y="3511296"/>
            <a:ext cx="530352" cy="118872"/>
          </a:xfrm>
          <a:prstGeom prst="roundRect">
            <a:avLst/>
          </a:prstGeom>
          <a:solidFill>
            <a:srgbClr val="EEF4FF"/>
          </a:solidFill>
          <a:ln w="11430">
            <a:solidFill>
              <a:srgbClr val="648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ounded Rectangle 125"/>
          <p:cNvSpPr/>
          <p:nvPr/>
        </p:nvSpPr>
        <p:spPr>
          <a:xfrm>
            <a:off x="3063240" y="3694176"/>
            <a:ext cx="530352" cy="118872"/>
          </a:xfrm>
          <a:prstGeom prst="roundRect">
            <a:avLst/>
          </a:prstGeom>
          <a:solidFill>
            <a:srgbClr val="EEF4FF"/>
          </a:solidFill>
          <a:ln w="11430">
            <a:solidFill>
              <a:srgbClr val="648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ounded Rectangle 126"/>
          <p:cNvSpPr/>
          <p:nvPr/>
        </p:nvSpPr>
        <p:spPr>
          <a:xfrm>
            <a:off x="3063240" y="3877056"/>
            <a:ext cx="530352" cy="118872"/>
          </a:xfrm>
          <a:prstGeom prst="roundRect">
            <a:avLst/>
          </a:prstGeom>
          <a:solidFill>
            <a:srgbClr val="EEF4FF"/>
          </a:solidFill>
          <a:ln w="11430">
            <a:solidFill>
              <a:srgbClr val="648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3072384" y="3419856"/>
            <a:ext cx="512064" cy="1280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540" b="1">
                <a:solidFill>
                  <a:srgbClr val="505A69"/>
                </a:solidFill>
                <a:latin typeface="Noto Sans CJK SC"/>
              </a:rPr>
              <a:t>tool / memory</a:t>
            </a:r>
          </a:p>
        </p:txBody>
      </p:sp>
      <p:sp>
        <p:nvSpPr>
          <p:cNvPr id="129" name="TextBox 128"/>
          <p:cNvSpPr txBox="1"/>
          <p:nvPr/>
        </p:nvSpPr>
        <p:spPr>
          <a:xfrm rot="16200000">
            <a:off x="4608576" y="1298448"/>
            <a:ext cx="228600" cy="6583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CD0000"/>
                </a:solidFill>
                <a:latin typeface="Noto Sans CJK SC"/>
              </a:rPr>
              <a:t>海量状态</a:t>
            </a:r>
          </a:p>
        </p:txBody>
      </p:sp>
      <p:sp>
        <p:nvSpPr>
          <p:cNvPr id="130" name="TextBox 129"/>
          <p:cNvSpPr txBox="1"/>
          <p:nvPr/>
        </p:nvSpPr>
        <p:spPr>
          <a:xfrm rot="16200000">
            <a:off x="4608576" y="2432304"/>
            <a:ext cx="228600" cy="6583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CD0000"/>
                </a:solidFill>
                <a:latin typeface="Noto Sans CJK SC"/>
              </a:rPr>
              <a:t>跨层流动</a:t>
            </a:r>
          </a:p>
        </p:txBody>
      </p:sp>
      <p:sp>
        <p:nvSpPr>
          <p:cNvPr id="131" name="TextBox 130"/>
          <p:cNvSpPr txBox="1"/>
          <p:nvPr/>
        </p:nvSpPr>
        <p:spPr>
          <a:xfrm rot="16200000">
            <a:off x="4608576" y="3547872"/>
            <a:ext cx="228600" cy="6583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CD0000"/>
                </a:solidFill>
                <a:latin typeface="Noto Sans CJK SC"/>
              </a:rPr>
              <a:t>一致复用</a:t>
            </a:r>
          </a:p>
        </p:txBody>
      </p:sp>
      <p:cxnSp>
        <p:nvCxnSpPr>
          <p:cNvPr id="132" name="Connector 131"/>
          <p:cNvCxnSpPr/>
          <p:nvPr/>
        </p:nvCxnSpPr>
        <p:spPr>
          <a:xfrm>
            <a:off x="4864608" y="1069848"/>
            <a:ext cx="0" cy="3337560"/>
          </a:xfrm>
          <a:prstGeom prst="line">
            <a:avLst/>
          </a:prstGeom>
          <a:ln w="10160">
            <a:solidFill>
              <a:srgbClr val="5884D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>
            <a:off x="4498848" y="2157984"/>
            <a:ext cx="4352544" cy="0"/>
          </a:xfrm>
          <a:prstGeom prst="line">
            <a:avLst/>
          </a:prstGeom>
          <a:ln w="10160">
            <a:solidFill>
              <a:srgbClr val="5884D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>
            <a:off x="4498848" y="3273552"/>
            <a:ext cx="4352544" cy="0"/>
          </a:xfrm>
          <a:prstGeom prst="line">
            <a:avLst/>
          </a:prstGeom>
          <a:ln w="10160">
            <a:solidFill>
              <a:srgbClr val="5884D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5" name="TextBox 134"/>
          <p:cNvSpPr txBox="1"/>
          <p:nvPr/>
        </p:nvSpPr>
        <p:spPr>
          <a:xfrm>
            <a:off x="5010912" y="1335024"/>
            <a:ext cx="1572768" cy="7132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30" b="1">
                <a:solidFill>
                  <a:srgbClr val="000000"/>
                </a:solidFill>
                <a:latin typeface="Noto Sans CJK SC"/>
              </a:rPr>
              <a:t>KV、prefix、draft、工具上下文
体量随上下文长度与并发放大，
显存压力可能超过权重本身。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5010912" y="2450592"/>
            <a:ext cx="1572768" cy="7132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30" b="1">
                <a:solidFill>
                  <a:srgbClr val="000000"/>
                </a:solidFill>
                <a:latin typeface="Noto Sans CJK SC"/>
              </a:rPr>
              <a:t>状态在 HBM、CPU、SSD、网络间
频繁迁移、淘汰与恢复，
调度不再只面对“请求”。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5010912" y="3566160"/>
            <a:ext cx="1572768" cy="7132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30" b="1">
                <a:solidFill>
                  <a:srgbClr val="000000"/>
                </a:solidFill>
                <a:latin typeface="Noto Sans CJK SC"/>
              </a:rPr>
              <a:t>可复用状态必须满足模型版本、
参数、权限与语义边界一致，
错误复用直接破坏正确性。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6711696" y="1170432"/>
            <a:ext cx="100584" cy="68580"/>
          </a:xfrm>
          <a:prstGeom prst="rect">
            <a:avLst/>
          </a:prstGeom>
          <a:solidFill>
            <a:srgbClr val="2B73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6848856" y="1170432"/>
            <a:ext cx="100584" cy="68580"/>
          </a:xfrm>
          <a:prstGeom prst="rect">
            <a:avLst/>
          </a:prstGeom>
          <a:solidFill>
            <a:srgbClr val="D5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6986016" y="1170432"/>
            <a:ext cx="100584" cy="68580"/>
          </a:xfrm>
          <a:prstGeom prst="rect">
            <a:avLst/>
          </a:prstGeom>
          <a:solidFill>
            <a:srgbClr val="D2E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7123176" y="1170432"/>
            <a:ext cx="100584" cy="68580"/>
          </a:xfrm>
          <a:prstGeom prst="rect">
            <a:avLst/>
          </a:prstGeom>
          <a:solidFill>
            <a:srgbClr val="CEE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7260336" y="1170432"/>
            <a:ext cx="100584" cy="68580"/>
          </a:xfrm>
          <a:prstGeom prst="rect">
            <a:avLst/>
          </a:prstGeom>
          <a:solidFill>
            <a:srgbClr val="CAE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7397496" y="1170432"/>
            <a:ext cx="100584" cy="68580"/>
          </a:xfrm>
          <a:prstGeom prst="rect">
            <a:avLst/>
          </a:prstGeom>
          <a:solidFill>
            <a:srgbClr val="C7D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7534656" y="1170432"/>
            <a:ext cx="100584" cy="68580"/>
          </a:xfrm>
          <a:prstGeom prst="rect">
            <a:avLst/>
          </a:prstGeom>
          <a:solidFill>
            <a:srgbClr val="C3D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7671816" y="1170432"/>
            <a:ext cx="100584" cy="68580"/>
          </a:xfrm>
          <a:prstGeom prst="rect">
            <a:avLst/>
          </a:prstGeom>
          <a:solidFill>
            <a:srgbClr val="2B73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7808975" y="1170432"/>
            <a:ext cx="100584" cy="68580"/>
          </a:xfrm>
          <a:prstGeom prst="rect">
            <a:avLst/>
          </a:prstGeom>
          <a:solidFill>
            <a:srgbClr val="BCD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7946136" y="1170432"/>
            <a:ext cx="100584" cy="68580"/>
          </a:xfrm>
          <a:prstGeom prst="rect">
            <a:avLst/>
          </a:prstGeom>
          <a:solidFill>
            <a:srgbClr val="B8D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8083296" y="1170432"/>
            <a:ext cx="100584" cy="68580"/>
          </a:xfrm>
          <a:prstGeom prst="rect">
            <a:avLst/>
          </a:prstGeom>
          <a:solidFill>
            <a:srgbClr val="B4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8220456" y="1170432"/>
            <a:ext cx="100584" cy="68580"/>
          </a:xfrm>
          <a:prstGeom prst="rect">
            <a:avLst/>
          </a:prstGeom>
          <a:solidFill>
            <a:srgbClr val="B1D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6711696" y="1275588"/>
            <a:ext cx="100584" cy="68580"/>
          </a:xfrm>
          <a:prstGeom prst="rect">
            <a:avLst/>
          </a:prstGeom>
          <a:solidFill>
            <a:srgbClr val="2B73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6848856" y="1275588"/>
            <a:ext cx="100584" cy="68580"/>
          </a:xfrm>
          <a:prstGeom prst="rect">
            <a:avLst/>
          </a:prstGeom>
          <a:solidFill>
            <a:srgbClr val="D3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6986016" y="1275588"/>
            <a:ext cx="100584" cy="68580"/>
          </a:xfrm>
          <a:prstGeom prst="rect">
            <a:avLst/>
          </a:prstGeom>
          <a:solidFill>
            <a:srgbClr val="CFE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7123176" y="1275588"/>
            <a:ext cx="100584" cy="68580"/>
          </a:xfrm>
          <a:prstGeom prst="rect">
            <a:avLst/>
          </a:prstGeom>
          <a:solidFill>
            <a:srgbClr val="CCE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7260336" y="1275588"/>
            <a:ext cx="100584" cy="68580"/>
          </a:xfrm>
          <a:prstGeom prst="rect">
            <a:avLst/>
          </a:prstGeom>
          <a:solidFill>
            <a:srgbClr val="C8D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7397496" y="1275588"/>
            <a:ext cx="100584" cy="68580"/>
          </a:xfrm>
          <a:prstGeom prst="rect">
            <a:avLst/>
          </a:prstGeom>
          <a:solidFill>
            <a:srgbClr val="C4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7534656" y="1275588"/>
            <a:ext cx="100584" cy="68580"/>
          </a:xfrm>
          <a:prstGeom prst="rect">
            <a:avLst/>
          </a:prstGeom>
          <a:solidFill>
            <a:srgbClr val="C1D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7671816" y="1275588"/>
            <a:ext cx="100584" cy="68580"/>
          </a:xfrm>
          <a:prstGeom prst="rect">
            <a:avLst/>
          </a:prstGeom>
          <a:solidFill>
            <a:srgbClr val="2B73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7808975" y="1275588"/>
            <a:ext cx="100584" cy="68580"/>
          </a:xfrm>
          <a:prstGeom prst="rect">
            <a:avLst/>
          </a:prstGeom>
          <a:solidFill>
            <a:srgbClr val="B9D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7946136" y="1275588"/>
            <a:ext cx="100584" cy="68580"/>
          </a:xfrm>
          <a:prstGeom prst="rect">
            <a:avLst/>
          </a:prstGeom>
          <a:solidFill>
            <a:srgbClr val="B6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8083296" y="1275588"/>
            <a:ext cx="100584" cy="68580"/>
          </a:xfrm>
          <a:prstGeom prst="rect">
            <a:avLst/>
          </a:prstGeom>
          <a:solidFill>
            <a:srgbClr val="B2D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8220456" y="1275588"/>
            <a:ext cx="100584" cy="68580"/>
          </a:xfrm>
          <a:prstGeom prst="rect">
            <a:avLst/>
          </a:prstGeom>
          <a:solidFill>
            <a:srgbClr val="AEC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6711696" y="1380744"/>
            <a:ext cx="100584" cy="68580"/>
          </a:xfrm>
          <a:prstGeom prst="rect">
            <a:avLst/>
          </a:prstGeom>
          <a:solidFill>
            <a:srgbClr val="2B73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6848856" y="1380744"/>
            <a:ext cx="100584" cy="68580"/>
          </a:xfrm>
          <a:prstGeom prst="rect">
            <a:avLst/>
          </a:prstGeom>
          <a:solidFill>
            <a:srgbClr val="D1E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6986016" y="1380744"/>
            <a:ext cx="100584" cy="68580"/>
          </a:xfrm>
          <a:prstGeom prst="rect">
            <a:avLst/>
          </a:prstGeom>
          <a:solidFill>
            <a:srgbClr val="CDE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7123176" y="1380744"/>
            <a:ext cx="100584" cy="68580"/>
          </a:xfrm>
          <a:prstGeom prst="rect">
            <a:avLst/>
          </a:prstGeom>
          <a:solidFill>
            <a:srgbClr val="C9D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7260336" y="1380744"/>
            <a:ext cx="100584" cy="68580"/>
          </a:xfrm>
          <a:prstGeom prst="rect">
            <a:avLst/>
          </a:prstGeom>
          <a:solidFill>
            <a:srgbClr val="C6D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7397496" y="1380744"/>
            <a:ext cx="100584" cy="68580"/>
          </a:xfrm>
          <a:prstGeom prst="rect">
            <a:avLst/>
          </a:prstGeom>
          <a:solidFill>
            <a:srgbClr val="C2D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7534656" y="1380744"/>
            <a:ext cx="100584" cy="68580"/>
          </a:xfrm>
          <a:prstGeom prst="rect">
            <a:avLst/>
          </a:prstGeom>
          <a:solidFill>
            <a:srgbClr val="BED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7671816" y="1380744"/>
            <a:ext cx="100584" cy="68580"/>
          </a:xfrm>
          <a:prstGeom prst="rect">
            <a:avLst/>
          </a:prstGeom>
          <a:solidFill>
            <a:srgbClr val="2B73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7808975" y="1380744"/>
            <a:ext cx="100584" cy="68580"/>
          </a:xfrm>
          <a:prstGeom prst="rect">
            <a:avLst/>
          </a:prstGeom>
          <a:solidFill>
            <a:srgbClr val="B7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7946136" y="1380744"/>
            <a:ext cx="100584" cy="68580"/>
          </a:xfrm>
          <a:prstGeom prst="rect">
            <a:avLst/>
          </a:prstGeom>
          <a:solidFill>
            <a:srgbClr val="B3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8083296" y="1380744"/>
            <a:ext cx="100584" cy="68580"/>
          </a:xfrm>
          <a:prstGeom prst="rect">
            <a:avLst/>
          </a:prstGeom>
          <a:solidFill>
            <a:srgbClr val="B0D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8220456" y="1380744"/>
            <a:ext cx="100584" cy="68580"/>
          </a:xfrm>
          <a:prstGeom prst="rect">
            <a:avLst/>
          </a:prstGeom>
          <a:solidFill>
            <a:srgbClr val="ACC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6711696" y="1485900"/>
            <a:ext cx="100584" cy="68580"/>
          </a:xfrm>
          <a:prstGeom prst="rect">
            <a:avLst/>
          </a:prstGeom>
          <a:solidFill>
            <a:srgbClr val="2B73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6848856" y="1485900"/>
            <a:ext cx="100584" cy="68580"/>
          </a:xfrm>
          <a:prstGeom prst="rect">
            <a:avLst/>
          </a:prstGeom>
          <a:solidFill>
            <a:srgbClr val="CEE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6986016" y="1485900"/>
            <a:ext cx="100584" cy="68580"/>
          </a:xfrm>
          <a:prstGeom prst="rect">
            <a:avLst/>
          </a:prstGeom>
          <a:solidFill>
            <a:srgbClr val="CBE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7123176" y="1485900"/>
            <a:ext cx="100584" cy="68580"/>
          </a:xfrm>
          <a:prstGeom prst="rect">
            <a:avLst/>
          </a:prstGeom>
          <a:solidFill>
            <a:srgbClr val="C7D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7260336" y="1485900"/>
            <a:ext cx="100584" cy="68580"/>
          </a:xfrm>
          <a:prstGeom prst="rect">
            <a:avLst/>
          </a:prstGeom>
          <a:solidFill>
            <a:srgbClr val="C3D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7397496" y="1485900"/>
            <a:ext cx="100584" cy="68580"/>
          </a:xfrm>
          <a:prstGeom prst="rect">
            <a:avLst/>
          </a:prstGeom>
          <a:solidFill>
            <a:srgbClr val="C0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7534656" y="1485900"/>
            <a:ext cx="100584" cy="68580"/>
          </a:xfrm>
          <a:prstGeom prst="rect">
            <a:avLst/>
          </a:prstGeom>
          <a:solidFill>
            <a:srgbClr val="BCD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7671816" y="1485900"/>
            <a:ext cx="100584" cy="68580"/>
          </a:xfrm>
          <a:prstGeom prst="rect">
            <a:avLst/>
          </a:prstGeom>
          <a:solidFill>
            <a:srgbClr val="2B73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7808975" y="1485900"/>
            <a:ext cx="100584" cy="68580"/>
          </a:xfrm>
          <a:prstGeom prst="rect">
            <a:avLst/>
          </a:prstGeom>
          <a:solidFill>
            <a:srgbClr val="B5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7946136" y="1485900"/>
            <a:ext cx="100584" cy="68580"/>
          </a:xfrm>
          <a:prstGeom prst="rect">
            <a:avLst/>
          </a:prstGeom>
          <a:solidFill>
            <a:srgbClr val="B1D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8083296" y="1485900"/>
            <a:ext cx="100584" cy="68580"/>
          </a:xfrm>
          <a:prstGeom prst="rect">
            <a:avLst/>
          </a:prstGeom>
          <a:solidFill>
            <a:srgbClr val="ADC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8220456" y="1485900"/>
            <a:ext cx="100584" cy="68580"/>
          </a:xfrm>
          <a:prstGeom prst="rect">
            <a:avLst/>
          </a:prstGeom>
          <a:solidFill>
            <a:srgbClr val="AAC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6711696" y="1591056"/>
            <a:ext cx="100584" cy="68580"/>
          </a:xfrm>
          <a:prstGeom prst="rect">
            <a:avLst/>
          </a:prstGeom>
          <a:solidFill>
            <a:srgbClr val="2B73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6848856" y="1591056"/>
            <a:ext cx="100584" cy="68580"/>
          </a:xfrm>
          <a:prstGeom prst="rect">
            <a:avLst/>
          </a:prstGeom>
          <a:solidFill>
            <a:srgbClr val="CCE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6986016" y="1591056"/>
            <a:ext cx="100584" cy="68580"/>
          </a:xfrm>
          <a:prstGeom prst="rect">
            <a:avLst/>
          </a:prstGeom>
          <a:solidFill>
            <a:srgbClr val="C8D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7123176" y="1591056"/>
            <a:ext cx="100584" cy="68580"/>
          </a:xfrm>
          <a:prstGeom prst="rect">
            <a:avLst/>
          </a:prstGeom>
          <a:solidFill>
            <a:srgbClr val="C5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7260336" y="1591056"/>
            <a:ext cx="100584" cy="68580"/>
          </a:xfrm>
          <a:prstGeom prst="rect">
            <a:avLst/>
          </a:prstGeom>
          <a:solidFill>
            <a:srgbClr val="C1D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7397496" y="1591056"/>
            <a:ext cx="100584" cy="68580"/>
          </a:xfrm>
          <a:prstGeom prst="rect">
            <a:avLst/>
          </a:prstGeom>
          <a:solidFill>
            <a:srgbClr val="BDD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7534656" y="1591056"/>
            <a:ext cx="100584" cy="68580"/>
          </a:xfrm>
          <a:prstGeom prst="rect">
            <a:avLst/>
          </a:prstGeom>
          <a:solidFill>
            <a:srgbClr val="BAD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7671816" y="1591056"/>
            <a:ext cx="100584" cy="68580"/>
          </a:xfrm>
          <a:prstGeom prst="rect">
            <a:avLst/>
          </a:prstGeom>
          <a:solidFill>
            <a:srgbClr val="2B73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7808975" y="1591056"/>
            <a:ext cx="100584" cy="68580"/>
          </a:xfrm>
          <a:prstGeom prst="rect">
            <a:avLst/>
          </a:prstGeom>
          <a:solidFill>
            <a:srgbClr val="B2D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7946136" y="1591056"/>
            <a:ext cx="100584" cy="68580"/>
          </a:xfrm>
          <a:prstGeom prst="rect">
            <a:avLst/>
          </a:prstGeom>
          <a:solidFill>
            <a:srgbClr val="AFC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8083296" y="1591056"/>
            <a:ext cx="100584" cy="68580"/>
          </a:xfrm>
          <a:prstGeom prst="rect">
            <a:avLst/>
          </a:prstGeom>
          <a:solidFill>
            <a:srgbClr val="ABC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8220456" y="1591056"/>
            <a:ext cx="100584" cy="68580"/>
          </a:xfrm>
          <a:prstGeom prst="rect">
            <a:avLst/>
          </a:prstGeom>
          <a:solidFill>
            <a:srgbClr val="A7C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TextBox 197"/>
          <p:cNvSpPr txBox="1"/>
          <p:nvPr/>
        </p:nvSpPr>
        <p:spPr>
          <a:xfrm>
            <a:off x="6711696" y="1746504"/>
            <a:ext cx="1481328" cy="1280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550" b="0">
                <a:solidFill>
                  <a:srgbClr val="505A69"/>
                </a:solidFill>
                <a:latin typeface="Noto Sans CJK SC"/>
              </a:rPr>
              <a:t>state blocks across layers / requests</a:t>
            </a:r>
          </a:p>
        </p:txBody>
      </p:sp>
      <p:sp>
        <p:nvSpPr>
          <p:cNvPr id="199" name="Rectangle 198"/>
          <p:cNvSpPr/>
          <p:nvPr/>
        </p:nvSpPr>
        <p:spPr>
          <a:xfrm>
            <a:off x="6729984" y="1874519"/>
            <a:ext cx="493776" cy="109728"/>
          </a:xfrm>
          <a:prstGeom prst="rect">
            <a:avLst/>
          </a:prstGeom>
          <a:solidFill>
            <a:srgbClr val="008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7223760" y="1874519"/>
            <a:ext cx="288036" cy="109728"/>
          </a:xfrm>
          <a:prstGeom prst="rect">
            <a:avLst/>
          </a:prstGeom>
          <a:solidFill>
            <a:srgbClr val="2DA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7511796" y="1874519"/>
            <a:ext cx="219456" cy="109728"/>
          </a:xfrm>
          <a:prstGeom prst="rect">
            <a:avLst/>
          </a:prstGeom>
          <a:solidFill>
            <a:srgbClr val="EB8F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7731252" y="1874519"/>
            <a:ext cx="150876" cy="109728"/>
          </a:xfrm>
          <a:prstGeom prst="rect">
            <a:avLst/>
          </a:prstGeom>
          <a:solidFill>
            <a:srgbClr val="785A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TextBox 202"/>
          <p:cNvSpPr txBox="1"/>
          <p:nvPr/>
        </p:nvSpPr>
        <p:spPr>
          <a:xfrm>
            <a:off x="6729984" y="1993392"/>
            <a:ext cx="1417320" cy="1097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540" b="0">
                <a:solidFill>
                  <a:srgbClr val="505A69"/>
                </a:solidFill>
                <a:latin typeface="Noto Sans CJK SC"/>
              </a:rPr>
              <a:t>heterogeneous intermediate state</a:t>
            </a:r>
          </a:p>
        </p:txBody>
      </p:sp>
      <p:sp>
        <p:nvSpPr>
          <p:cNvPr id="204" name="Rounded Rectangle 203"/>
          <p:cNvSpPr/>
          <p:nvPr/>
        </p:nvSpPr>
        <p:spPr>
          <a:xfrm>
            <a:off x="6711696" y="2395728"/>
            <a:ext cx="1463040" cy="164592"/>
          </a:xfrm>
          <a:prstGeom prst="roundRect">
            <a:avLst/>
          </a:prstGeom>
          <a:solidFill>
            <a:srgbClr val="008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TextBox 204"/>
          <p:cNvSpPr txBox="1"/>
          <p:nvPr/>
        </p:nvSpPr>
        <p:spPr>
          <a:xfrm>
            <a:off x="6757416" y="2414016"/>
            <a:ext cx="347472" cy="731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570" b="1">
                <a:solidFill>
                  <a:srgbClr val="FFFFFF"/>
                </a:solidFill>
                <a:latin typeface="Noto Sans CJK SC"/>
              </a:rPr>
              <a:t>HBM</a:t>
            </a:r>
          </a:p>
        </p:txBody>
      </p:sp>
      <p:sp>
        <p:nvSpPr>
          <p:cNvPr id="206" name="Rounded Rectangle 205"/>
          <p:cNvSpPr/>
          <p:nvPr/>
        </p:nvSpPr>
        <p:spPr>
          <a:xfrm>
            <a:off x="6858000" y="2606040"/>
            <a:ext cx="1143000" cy="164592"/>
          </a:xfrm>
          <a:prstGeom prst="roundRect">
            <a:avLst/>
          </a:prstGeom>
          <a:solidFill>
            <a:srgbClr val="2DA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TextBox 206"/>
          <p:cNvSpPr txBox="1"/>
          <p:nvPr/>
        </p:nvSpPr>
        <p:spPr>
          <a:xfrm>
            <a:off x="6903720" y="2624328"/>
            <a:ext cx="347472" cy="731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570" b="1">
                <a:solidFill>
                  <a:srgbClr val="FFFFFF"/>
                </a:solidFill>
                <a:latin typeface="Noto Sans CJK SC"/>
              </a:rPr>
              <a:t>CPU</a:t>
            </a:r>
          </a:p>
        </p:txBody>
      </p:sp>
      <p:sp>
        <p:nvSpPr>
          <p:cNvPr id="208" name="Rounded Rectangle 207"/>
          <p:cNvSpPr/>
          <p:nvPr/>
        </p:nvSpPr>
        <p:spPr>
          <a:xfrm>
            <a:off x="7004304" y="2816352"/>
            <a:ext cx="841248" cy="164592"/>
          </a:xfrm>
          <a:prstGeom prst="roundRect">
            <a:avLst/>
          </a:prstGeom>
          <a:solidFill>
            <a:srgbClr val="EB8F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TextBox 208"/>
          <p:cNvSpPr txBox="1"/>
          <p:nvPr/>
        </p:nvSpPr>
        <p:spPr>
          <a:xfrm>
            <a:off x="7050024" y="2834640"/>
            <a:ext cx="347472" cy="731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570" b="1">
                <a:solidFill>
                  <a:srgbClr val="FFFFFF"/>
                </a:solidFill>
                <a:latin typeface="Noto Sans CJK SC"/>
              </a:rPr>
              <a:t>SSD</a:t>
            </a:r>
          </a:p>
        </p:txBody>
      </p:sp>
      <p:sp>
        <p:nvSpPr>
          <p:cNvPr id="210" name="Rounded Rectangle 209"/>
          <p:cNvSpPr/>
          <p:nvPr/>
        </p:nvSpPr>
        <p:spPr>
          <a:xfrm>
            <a:off x="7150608" y="3026664"/>
            <a:ext cx="566928" cy="164592"/>
          </a:xfrm>
          <a:prstGeom prst="roundRect">
            <a:avLst/>
          </a:prstGeom>
          <a:solidFill>
            <a:srgbClr val="785A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TextBox 210"/>
          <p:cNvSpPr txBox="1"/>
          <p:nvPr/>
        </p:nvSpPr>
        <p:spPr>
          <a:xfrm>
            <a:off x="7196327" y="3044952"/>
            <a:ext cx="347472" cy="731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570" b="1">
                <a:solidFill>
                  <a:srgbClr val="FFFFFF"/>
                </a:solidFill>
                <a:latin typeface="Noto Sans CJK SC"/>
              </a:rPr>
              <a:t>NET</a:t>
            </a:r>
          </a:p>
        </p:txBody>
      </p:sp>
      <p:sp>
        <p:nvSpPr>
          <p:cNvPr id="212" name="Rectangle 211"/>
          <p:cNvSpPr/>
          <p:nvPr/>
        </p:nvSpPr>
        <p:spPr>
          <a:xfrm>
            <a:off x="6693408" y="3081528"/>
            <a:ext cx="50292" cy="219456"/>
          </a:xfrm>
          <a:prstGeom prst="rect">
            <a:avLst/>
          </a:prstGeom>
          <a:solidFill>
            <a:srgbClr val="008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6771132" y="3031236"/>
            <a:ext cx="50292" cy="256031"/>
          </a:xfrm>
          <a:prstGeom prst="rect">
            <a:avLst/>
          </a:prstGeom>
          <a:solidFill>
            <a:srgbClr val="2DA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6848856" y="2980944"/>
            <a:ext cx="50292" cy="292608"/>
          </a:xfrm>
          <a:prstGeom prst="rect">
            <a:avLst/>
          </a:prstGeom>
          <a:solidFill>
            <a:srgbClr val="EB8F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6926580" y="2930652"/>
            <a:ext cx="50292" cy="329184"/>
          </a:xfrm>
          <a:prstGeom prst="rect">
            <a:avLst/>
          </a:prstGeom>
          <a:solidFill>
            <a:srgbClr val="785A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7004304" y="2880360"/>
            <a:ext cx="50292" cy="219456"/>
          </a:xfrm>
          <a:prstGeom prst="rect">
            <a:avLst/>
          </a:prstGeom>
          <a:solidFill>
            <a:srgbClr val="008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7082028" y="3081528"/>
            <a:ext cx="50292" cy="256031"/>
          </a:xfrm>
          <a:prstGeom prst="rect">
            <a:avLst/>
          </a:prstGeom>
          <a:solidFill>
            <a:srgbClr val="2DA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7159752" y="3031236"/>
            <a:ext cx="50292" cy="292608"/>
          </a:xfrm>
          <a:prstGeom prst="rect">
            <a:avLst/>
          </a:prstGeom>
          <a:solidFill>
            <a:srgbClr val="EB8F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7237476" y="2980944"/>
            <a:ext cx="50292" cy="329184"/>
          </a:xfrm>
          <a:prstGeom prst="rect">
            <a:avLst/>
          </a:prstGeom>
          <a:solidFill>
            <a:srgbClr val="785A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Rectangle 219"/>
          <p:cNvSpPr/>
          <p:nvPr/>
        </p:nvSpPr>
        <p:spPr>
          <a:xfrm>
            <a:off x="7315200" y="2930652"/>
            <a:ext cx="50292" cy="219456"/>
          </a:xfrm>
          <a:prstGeom prst="rect">
            <a:avLst/>
          </a:prstGeom>
          <a:solidFill>
            <a:srgbClr val="008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7392924" y="2880360"/>
            <a:ext cx="50292" cy="256031"/>
          </a:xfrm>
          <a:prstGeom prst="rect">
            <a:avLst/>
          </a:prstGeom>
          <a:solidFill>
            <a:srgbClr val="2DA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Rectangle 221"/>
          <p:cNvSpPr/>
          <p:nvPr/>
        </p:nvSpPr>
        <p:spPr>
          <a:xfrm>
            <a:off x="7470648" y="3081528"/>
            <a:ext cx="50292" cy="292608"/>
          </a:xfrm>
          <a:prstGeom prst="rect">
            <a:avLst/>
          </a:prstGeom>
          <a:solidFill>
            <a:srgbClr val="EB8F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7548372" y="3031236"/>
            <a:ext cx="50292" cy="329184"/>
          </a:xfrm>
          <a:prstGeom prst="rect">
            <a:avLst/>
          </a:prstGeom>
          <a:solidFill>
            <a:srgbClr val="785A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7626096" y="2980944"/>
            <a:ext cx="50292" cy="219456"/>
          </a:xfrm>
          <a:prstGeom prst="rect">
            <a:avLst/>
          </a:prstGeom>
          <a:solidFill>
            <a:srgbClr val="008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7703820" y="2930652"/>
            <a:ext cx="50292" cy="256031"/>
          </a:xfrm>
          <a:prstGeom prst="rect">
            <a:avLst/>
          </a:prstGeom>
          <a:solidFill>
            <a:srgbClr val="2DA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7781544" y="2880360"/>
            <a:ext cx="50292" cy="292608"/>
          </a:xfrm>
          <a:prstGeom prst="rect">
            <a:avLst/>
          </a:prstGeom>
          <a:solidFill>
            <a:srgbClr val="EB8F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7859268" y="3081528"/>
            <a:ext cx="50292" cy="329184"/>
          </a:xfrm>
          <a:prstGeom prst="rect">
            <a:avLst/>
          </a:prstGeom>
          <a:solidFill>
            <a:srgbClr val="785A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7936992" y="3031236"/>
            <a:ext cx="50292" cy="219456"/>
          </a:xfrm>
          <a:prstGeom prst="rect">
            <a:avLst/>
          </a:prstGeom>
          <a:solidFill>
            <a:srgbClr val="008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Rectangle 228"/>
          <p:cNvSpPr/>
          <p:nvPr/>
        </p:nvSpPr>
        <p:spPr>
          <a:xfrm>
            <a:off x="8014716" y="2980944"/>
            <a:ext cx="50292" cy="256031"/>
          </a:xfrm>
          <a:prstGeom prst="rect">
            <a:avLst/>
          </a:prstGeom>
          <a:solidFill>
            <a:srgbClr val="2DA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TextBox 229"/>
          <p:cNvSpPr txBox="1"/>
          <p:nvPr/>
        </p:nvSpPr>
        <p:spPr>
          <a:xfrm>
            <a:off x="6675120" y="3127248"/>
            <a:ext cx="1572768" cy="1097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540" b="0">
                <a:solidFill>
                  <a:srgbClr val="505A69"/>
                </a:solidFill>
                <a:latin typeface="Noto Sans CJK SC"/>
              </a:rPr>
              <a:t>evict / swap / migrate / recompute</a:t>
            </a:r>
          </a:p>
        </p:txBody>
      </p:sp>
      <p:cxnSp>
        <p:nvCxnSpPr>
          <p:cNvPr id="231" name="Connector 230"/>
          <p:cNvCxnSpPr/>
          <p:nvPr/>
        </p:nvCxnSpPr>
        <p:spPr>
          <a:xfrm flipV="1">
            <a:off x="6986016" y="3566160"/>
            <a:ext cx="457199" cy="164592"/>
          </a:xfrm>
          <a:prstGeom prst="line">
            <a:avLst/>
          </a:prstGeom>
          <a:ln w="10160">
            <a:solidFill>
              <a:srgbClr val="6482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2" name="Connector 231"/>
          <p:cNvCxnSpPr/>
          <p:nvPr/>
        </p:nvCxnSpPr>
        <p:spPr>
          <a:xfrm>
            <a:off x="7443215" y="3566160"/>
            <a:ext cx="484633" cy="192024"/>
          </a:xfrm>
          <a:prstGeom prst="line">
            <a:avLst/>
          </a:prstGeom>
          <a:ln w="10160">
            <a:solidFill>
              <a:srgbClr val="6482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3" name="Connector 232"/>
          <p:cNvCxnSpPr/>
          <p:nvPr/>
        </p:nvCxnSpPr>
        <p:spPr>
          <a:xfrm>
            <a:off x="7443215" y="3566160"/>
            <a:ext cx="118873" cy="530352"/>
          </a:xfrm>
          <a:prstGeom prst="line">
            <a:avLst/>
          </a:prstGeom>
          <a:ln w="10160">
            <a:solidFill>
              <a:srgbClr val="6482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4" name="Connector 233"/>
          <p:cNvCxnSpPr/>
          <p:nvPr/>
        </p:nvCxnSpPr>
        <p:spPr>
          <a:xfrm>
            <a:off x="7927848" y="3758184"/>
            <a:ext cx="228600" cy="283464"/>
          </a:xfrm>
          <a:prstGeom prst="line">
            <a:avLst/>
          </a:prstGeom>
          <a:ln w="10160">
            <a:solidFill>
              <a:srgbClr val="6482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5" name="Connector 234"/>
          <p:cNvCxnSpPr/>
          <p:nvPr/>
        </p:nvCxnSpPr>
        <p:spPr>
          <a:xfrm flipV="1">
            <a:off x="7562088" y="4041648"/>
            <a:ext cx="594360" cy="54864"/>
          </a:xfrm>
          <a:prstGeom prst="line">
            <a:avLst/>
          </a:prstGeom>
          <a:ln w="10160">
            <a:solidFill>
              <a:srgbClr val="6482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6" name="Connector 235"/>
          <p:cNvCxnSpPr/>
          <p:nvPr/>
        </p:nvCxnSpPr>
        <p:spPr>
          <a:xfrm>
            <a:off x="6986016" y="3730752"/>
            <a:ext cx="576072" cy="365760"/>
          </a:xfrm>
          <a:prstGeom prst="line">
            <a:avLst/>
          </a:prstGeom>
          <a:ln w="10160">
            <a:solidFill>
              <a:srgbClr val="6482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7" name="Rounded Rectangle 236"/>
          <p:cNvSpPr/>
          <p:nvPr/>
        </p:nvSpPr>
        <p:spPr>
          <a:xfrm>
            <a:off x="6876288" y="3657600"/>
            <a:ext cx="274320" cy="164592"/>
          </a:xfrm>
          <a:prstGeom prst="roundRect">
            <a:avLst/>
          </a:prstGeom>
          <a:solidFill>
            <a:srgbClr val="ECF4FF"/>
          </a:solidFill>
          <a:ln w="11430">
            <a:solidFill>
              <a:srgbClr val="648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TextBox 237"/>
          <p:cNvSpPr txBox="1"/>
          <p:nvPr/>
        </p:nvSpPr>
        <p:spPr>
          <a:xfrm>
            <a:off x="6894575" y="3689604"/>
            <a:ext cx="237744" cy="731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580" b="1">
                <a:solidFill>
                  <a:srgbClr val="082769"/>
                </a:solidFill>
                <a:latin typeface="Noto Sans CJK SC"/>
              </a:rPr>
              <a:t>M</a:t>
            </a:r>
          </a:p>
        </p:txBody>
      </p:sp>
      <p:sp>
        <p:nvSpPr>
          <p:cNvPr id="239" name="Rounded Rectangle 238"/>
          <p:cNvSpPr/>
          <p:nvPr/>
        </p:nvSpPr>
        <p:spPr>
          <a:xfrm>
            <a:off x="7333488" y="3493008"/>
            <a:ext cx="274320" cy="164592"/>
          </a:xfrm>
          <a:prstGeom prst="roundRect">
            <a:avLst/>
          </a:prstGeom>
          <a:solidFill>
            <a:srgbClr val="ECF4FF"/>
          </a:solidFill>
          <a:ln w="11430">
            <a:solidFill>
              <a:srgbClr val="648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TextBox 239"/>
          <p:cNvSpPr txBox="1"/>
          <p:nvPr/>
        </p:nvSpPr>
        <p:spPr>
          <a:xfrm>
            <a:off x="7351775" y="3525012"/>
            <a:ext cx="237744" cy="731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580" b="1">
                <a:solidFill>
                  <a:srgbClr val="082769"/>
                </a:solidFill>
                <a:latin typeface="Noto Sans CJK SC"/>
              </a:rPr>
              <a:t>V</a:t>
            </a:r>
          </a:p>
        </p:txBody>
      </p:sp>
      <p:sp>
        <p:nvSpPr>
          <p:cNvPr id="241" name="Rounded Rectangle 240"/>
          <p:cNvSpPr/>
          <p:nvPr/>
        </p:nvSpPr>
        <p:spPr>
          <a:xfrm>
            <a:off x="7818120" y="3685032"/>
            <a:ext cx="274320" cy="164592"/>
          </a:xfrm>
          <a:prstGeom prst="roundRect">
            <a:avLst/>
          </a:prstGeom>
          <a:solidFill>
            <a:srgbClr val="ECF4FF"/>
          </a:solidFill>
          <a:ln w="11430">
            <a:solidFill>
              <a:srgbClr val="648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TextBox 241"/>
          <p:cNvSpPr txBox="1"/>
          <p:nvPr/>
        </p:nvSpPr>
        <p:spPr>
          <a:xfrm>
            <a:off x="7836408" y="3717036"/>
            <a:ext cx="237744" cy="731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580" b="1">
                <a:solidFill>
                  <a:srgbClr val="082769"/>
                </a:solidFill>
                <a:latin typeface="Noto Sans CJK SC"/>
              </a:rPr>
              <a:t>P</a:t>
            </a:r>
          </a:p>
        </p:txBody>
      </p:sp>
      <p:sp>
        <p:nvSpPr>
          <p:cNvPr id="243" name="Rounded Rectangle 242"/>
          <p:cNvSpPr/>
          <p:nvPr/>
        </p:nvSpPr>
        <p:spPr>
          <a:xfrm>
            <a:off x="7452360" y="4023360"/>
            <a:ext cx="274320" cy="164592"/>
          </a:xfrm>
          <a:prstGeom prst="roundRect">
            <a:avLst/>
          </a:prstGeom>
          <a:solidFill>
            <a:srgbClr val="ECF4FF"/>
          </a:solidFill>
          <a:ln w="11430">
            <a:solidFill>
              <a:srgbClr val="648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TextBox 243"/>
          <p:cNvSpPr txBox="1"/>
          <p:nvPr/>
        </p:nvSpPr>
        <p:spPr>
          <a:xfrm>
            <a:off x="7470648" y="4055364"/>
            <a:ext cx="237744" cy="731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580" b="1">
                <a:solidFill>
                  <a:srgbClr val="082769"/>
                </a:solidFill>
                <a:latin typeface="Noto Sans CJK SC"/>
              </a:rPr>
              <a:t>ACL</a:t>
            </a:r>
          </a:p>
        </p:txBody>
      </p:sp>
      <p:sp>
        <p:nvSpPr>
          <p:cNvPr id="245" name="Rounded Rectangle 244"/>
          <p:cNvSpPr/>
          <p:nvPr/>
        </p:nvSpPr>
        <p:spPr>
          <a:xfrm>
            <a:off x="8046720" y="3968496"/>
            <a:ext cx="274320" cy="164592"/>
          </a:xfrm>
          <a:prstGeom prst="roundRect">
            <a:avLst/>
          </a:prstGeom>
          <a:solidFill>
            <a:srgbClr val="ECF4FF"/>
          </a:solidFill>
          <a:ln w="11430">
            <a:solidFill>
              <a:srgbClr val="648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TextBox 245"/>
          <p:cNvSpPr txBox="1"/>
          <p:nvPr/>
        </p:nvSpPr>
        <p:spPr>
          <a:xfrm>
            <a:off x="8065008" y="4000500"/>
            <a:ext cx="237744" cy="731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580" b="1">
                <a:solidFill>
                  <a:srgbClr val="082769"/>
                </a:solidFill>
                <a:latin typeface="Noto Sans CJK SC"/>
              </a:rPr>
              <a:t>Sem</a:t>
            </a:r>
          </a:p>
        </p:txBody>
      </p:sp>
      <p:sp>
        <p:nvSpPr>
          <p:cNvPr id="247" name="TextBox 246"/>
          <p:cNvSpPr txBox="1"/>
          <p:nvPr/>
        </p:nvSpPr>
        <p:spPr>
          <a:xfrm>
            <a:off x="6693408" y="4187952"/>
            <a:ext cx="1609344" cy="1097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530" b="0">
                <a:solidFill>
                  <a:srgbClr val="505A69"/>
                </a:solidFill>
                <a:latin typeface="Noto Sans CJK SC"/>
              </a:rPr>
              <a:t>version / params / permission / semantic boundary</a:t>
            </a:r>
          </a:p>
        </p:txBody>
      </p:sp>
      <p:sp>
        <p:nvSpPr>
          <p:cNvPr id="248" name="Rounded Rectangle 247"/>
          <p:cNvSpPr/>
          <p:nvPr/>
        </p:nvSpPr>
        <p:spPr>
          <a:xfrm>
            <a:off x="201168" y="4526280"/>
            <a:ext cx="4041648" cy="393192"/>
          </a:xfrm>
          <a:prstGeom prst="roundRect">
            <a:avLst/>
          </a:prstGeom>
          <a:solidFill>
            <a:srgbClr val="0827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Rounded Rectangle 248"/>
          <p:cNvSpPr/>
          <p:nvPr/>
        </p:nvSpPr>
        <p:spPr>
          <a:xfrm>
            <a:off x="4480560" y="4526280"/>
            <a:ext cx="4389120" cy="393192"/>
          </a:xfrm>
          <a:prstGeom prst="roundRect">
            <a:avLst/>
          </a:prstGeom>
          <a:solidFill>
            <a:srgbClr val="0827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TextBox 249"/>
          <p:cNvSpPr txBox="1"/>
          <p:nvPr/>
        </p:nvSpPr>
        <p:spPr>
          <a:xfrm>
            <a:off x="384048" y="4608576"/>
            <a:ext cx="3675887" cy="1371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60" b="1">
                <a:solidFill>
                  <a:srgbClr val="FFFFFF"/>
                </a:solidFill>
                <a:latin typeface="Noto Sans CJK SC"/>
              </a:rPr>
              <a:t>长上下文与状态复用让推理状态从临时张量变成可管理资源</a:t>
            </a:r>
          </a:p>
        </p:txBody>
      </p:sp>
      <p:sp>
        <p:nvSpPr>
          <p:cNvPr id="251" name="TextBox 250"/>
          <p:cNvSpPr txBox="1"/>
          <p:nvPr/>
        </p:nvSpPr>
        <p:spPr>
          <a:xfrm>
            <a:off x="4645152" y="4608576"/>
            <a:ext cx="4041648" cy="1371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60" b="1">
                <a:solidFill>
                  <a:srgbClr val="FFFFFF"/>
                </a:solidFill>
                <a:latin typeface="Noto Sans CJK SC"/>
              </a:rPr>
              <a:t>新形态状态引入新的系统挑战：</a:t>
            </a:r>
            <a:r>
              <a:rPr sz="1060" b="1">
                <a:solidFill>
                  <a:srgbClr val="FFF100"/>
                </a:solidFill>
                <a:latin typeface="Noto Sans CJK SC"/>
              </a:rPr>
              <a:t>海量化、跨层流动、一致复用</a:t>
            </a:r>
          </a:p>
        </p:txBody>
      </p:sp>
      <p:sp>
        <p:nvSpPr>
          <p:cNvPr id="252" name="TextBox 251"/>
          <p:cNvSpPr txBox="1"/>
          <p:nvPr/>
        </p:nvSpPr>
        <p:spPr>
          <a:xfrm>
            <a:off x="8759952" y="4855464"/>
            <a:ext cx="164592" cy="731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320" b="0">
                <a:solidFill>
                  <a:srgbClr val="1243A3"/>
                </a:solidFill>
                <a:latin typeface="Noto Sans CJK SC"/>
              </a:rPr>
              <a:t>Page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