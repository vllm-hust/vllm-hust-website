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E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83480" y="146304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99939" y="140817"/>
            <a:ext cx="10972" cy="237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6398" y="135331"/>
            <a:ext cx="10972" cy="2926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2857" y="129844"/>
            <a:ext cx="10972" cy="3474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49316" y="124358"/>
            <a:ext cx="10972" cy="402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65776" y="118872"/>
            <a:ext cx="10972" cy="4572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2235" y="113385"/>
            <a:ext cx="10972" cy="512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98694" y="107899"/>
            <a:ext cx="10972" cy="566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5153" y="146304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1612" y="140817"/>
            <a:ext cx="10972" cy="237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8072" y="135331"/>
            <a:ext cx="10972" cy="2926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4531" y="129844"/>
            <a:ext cx="10972" cy="3474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80990" y="124358"/>
            <a:ext cx="10972" cy="402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7449" y="118872"/>
            <a:ext cx="10972" cy="4572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3908" y="113385"/>
            <a:ext cx="10972" cy="512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30368" y="107899"/>
            <a:ext cx="10972" cy="566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46827" y="146304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63286" y="140817"/>
            <a:ext cx="10972" cy="237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745" y="135331"/>
            <a:ext cx="10972" cy="2926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96204" y="129844"/>
            <a:ext cx="10972" cy="3474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12664" y="124358"/>
            <a:ext cx="10972" cy="402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9123" y="118872"/>
            <a:ext cx="10972" cy="4572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5582" y="113385"/>
            <a:ext cx="10972" cy="512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62041" y="107899"/>
            <a:ext cx="10972" cy="566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78500" y="146304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140817"/>
            <a:ext cx="10972" cy="237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11419" y="135331"/>
            <a:ext cx="10972" cy="2926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7878" y="129844"/>
            <a:ext cx="10972" cy="3474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4337" y="124358"/>
            <a:ext cx="10972" cy="402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60796" y="118872"/>
            <a:ext cx="10972" cy="4572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77256" y="113385"/>
            <a:ext cx="10972" cy="512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93715" y="107899"/>
            <a:ext cx="10972" cy="566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0174" y="146304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26633" y="140817"/>
            <a:ext cx="10972" cy="237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43092" y="135331"/>
            <a:ext cx="10972" cy="2926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9552" y="129844"/>
            <a:ext cx="10972" cy="3474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6011" y="124358"/>
            <a:ext cx="10972" cy="402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92470" y="118872"/>
            <a:ext cx="10972" cy="4572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8929" y="113385"/>
            <a:ext cx="10972" cy="512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25388" y="107899"/>
            <a:ext cx="10972" cy="566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41848" y="146304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58307" y="140817"/>
            <a:ext cx="10972" cy="237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74766" y="135331"/>
            <a:ext cx="10972" cy="2926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91225" y="129844"/>
            <a:ext cx="10972" cy="3474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07684" y="124358"/>
            <a:ext cx="10972" cy="402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24144" y="118872"/>
            <a:ext cx="10972" cy="4572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40603" y="113385"/>
            <a:ext cx="10972" cy="512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57062" y="107899"/>
            <a:ext cx="10972" cy="566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73521" y="146304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89980" y="140817"/>
            <a:ext cx="10972" cy="237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06440" y="135331"/>
            <a:ext cx="10972" cy="2926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22899" y="129844"/>
            <a:ext cx="10972" cy="3474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39358" y="124358"/>
            <a:ext cx="10972" cy="402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55817" y="118872"/>
            <a:ext cx="10972" cy="4572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72276" y="113385"/>
            <a:ext cx="10972" cy="512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32004"/>
            <a:ext cx="173736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" b="0">
                <a:solidFill>
                  <a:srgbClr val="FFFFFF"/>
                </a:solidFill>
                <a:latin typeface="Noto Sans CJK SC"/>
              </a:rPr>
              <a:t>Huazhong University of Science and Technology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310896"/>
            <a:ext cx="777240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00" b="1">
                <a:solidFill>
                  <a:srgbClr val="003FA4"/>
                </a:solidFill>
                <a:latin typeface="Noto Sans CJK SC"/>
              </a:rPr>
              <a:t>课题2.6： </a:t>
            </a:r>
            <a:r>
              <a:rPr sz="2300" b="1">
                <a:solidFill>
                  <a:srgbClr val="003FA4"/>
                </a:solidFill>
                <a:latin typeface="Noto Sans CJK SC"/>
              </a:rPr>
              <a:t>LLM Serving 中的 KV 缓存共享选择层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841248"/>
            <a:ext cx="1554480" cy="420624"/>
          </a:xfrm>
          <a:prstGeom prst="rect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ight Triangle 60"/>
          <p:cNvSpPr/>
          <p:nvPr/>
        </p:nvSpPr>
        <p:spPr>
          <a:xfrm>
            <a:off x="1508760" y="841248"/>
            <a:ext cx="292608" cy="420624"/>
          </a:xfrm>
          <a:prstGeom prst="rtTriangle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37360" y="841248"/>
            <a:ext cx="6903720" cy="420624"/>
          </a:xfrm>
          <a:prstGeom prst="rect">
            <a:avLst/>
          </a:prstGeom>
          <a:solidFill>
            <a:srgbClr val="EB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" y="93268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研究难点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47088" y="93268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D0000"/>
                </a:solidFill>
                <a:latin typeface="Noto Sans CJK SC"/>
              </a:rPr>
              <a:t>多种 KV 复用机制并存，静态规则难以选择最优共享计划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" y="1325880"/>
            <a:ext cx="4096512" cy="2852928"/>
          </a:xfrm>
          <a:prstGeom prst="rect">
            <a:avLst/>
          </a:prstGeom>
          <a:solidFill>
            <a:srgbClr val="FFFFFF"/>
          </a:solidFill>
          <a:ln w="11430">
            <a:solidFill>
              <a:srgbClr val="78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26280" y="1325880"/>
            <a:ext cx="4005072" cy="2852928"/>
          </a:xfrm>
          <a:prstGeom prst="rect">
            <a:avLst/>
          </a:prstGeom>
          <a:solidFill>
            <a:srgbClr val="FFFFFF"/>
          </a:solidFill>
          <a:ln w="11430">
            <a:solidFill>
              <a:srgbClr val="78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46888" y="1325880"/>
            <a:ext cx="4096512" cy="237744"/>
          </a:xfrm>
          <a:prstGeom prst="rect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26280" y="1325880"/>
            <a:ext cx="4005072" cy="237744"/>
          </a:xfrm>
          <a:prstGeom prst="rect">
            <a:avLst/>
          </a:prstGeom>
          <a:solidFill>
            <a:srgbClr val="FFFFFF"/>
          </a:solidFill>
          <a:ln w="11430">
            <a:solidFill>
              <a:srgbClr val="78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1380744"/>
            <a:ext cx="365760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Noto Sans CJK SC"/>
              </a:rPr>
              <a:t>背景：Prefill 阶段共享机会丰富，但缺少全局选择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19472" y="1380744"/>
            <a:ext cx="329184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003FA4"/>
                </a:solidFill>
                <a:latin typeface="Noto Sans CJK SC"/>
              </a:rPr>
              <a:t>核心思路：引入 Cost-based KV Reuse Optimizer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7632" y="1627632"/>
            <a:ext cx="137160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Noto Sans CJK SC"/>
              </a:rPr>
              <a:t>问题背景：混合请求中共享形态并存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1888236"/>
            <a:ext cx="228600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Noto Sans CJK SC"/>
              </a:rPr>
              <a:t>R1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3232" y="1856231"/>
            <a:ext cx="137160" cy="109728"/>
          </a:xfrm>
          <a:prstGeom prst="roundRect">
            <a:avLst/>
          </a:prstGeom>
          <a:solidFill>
            <a:srgbClr val="BEE1C8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14400" y="1856231"/>
            <a:ext cx="137160" cy="109728"/>
          </a:xfrm>
          <a:prstGeom prst="roundRect">
            <a:avLst/>
          </a:prstGeom>
          <a:solidFill>
            <a:srgbClr val="BEE1C8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15568" y="1856231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316736" y="1856231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517904" y="1856231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719072" y="1856231"/>
            <a:ext cx="137160" cy="109728"/>
          </a:xfrm>
          <a:prstGeom prst="roundRect">
            <a:avLst/>
          </a:prstGeom>
          <a:solidFill>
            <a:srgbClr val="FFE2BB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920240" y="1856231"/>
            <a:ext cx="137160" cy="109728"/>
          </a:xfrm>
          <a:prstGeom prst="roundRect">
            <a:avLst/>
          </a:prstGeom>
          <a:solidFill>
            <a:srgbClr val="FFE2BB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2121408" y="1856231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322576" y="1856231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" y="2153412"/>
            <a:ext cx="228600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Noto Sans CJK SC"/>
              </a:rPr>
              <a:t>R2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13232" y="2121408"/>
            <a:ext cx="137160" cy="109728"/>
          </a:xfrm>
          <a:prstGeom prst="roundRect">
            <a:avLst/>
          </a:prstGeom>
          <a:solidFill>
            <a:srgbClr val="BEE1C8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14400" y="2121408"/>
            <a:ext cx="137160" cy="109728"/>
          </a:xfrm>
          <a:prstGeom prst="roundRect">
            <a:avLst/>
          </a:prstGeom>
          <a:solidFill>
            <a:srgbClr val="BEE1C8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115568" y="2121408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316736" y="2121408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517904" y="2121408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719072" y="2121408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920240" y="2121408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2121408" y="2121408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322576" y="2121408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80" y="2418588"/>
            <a:ext cx="228600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Noto Sans CJK SC"/>
              </a:rPr>
              <a:t>R3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3232" y="2386584"/>
            <a:ext cx="137160" cy="109728"/>
          </a:xfrm>
          <a:prstGeom prst="roundRect">
            <a:avLst/>
          </a:prstGeom>
          <a:solidFill>
            <a:srgbClr val="BEE1C8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14400" y="2386584"/>
            <a:ext cx="137160" cy="109728"/>
          </a:xfrm>
          <a:prstGeom prst="roundRect">
            <a:avLst/>
          </a:prstGeom>
          <a:solidFill>
            <a:srgbClr val="BEE1C8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115568" y="2386584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316736" y="2386584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517904" y="2386584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719072" y="2386584"/>
            <a:ext cx="137160" cy="109728"/>
          </a:xfrm>
          <a:prstGeom prst="roundRect">
            <a:avLst/>
          </a:prstGeom>
          <a:solidFill>
            <a:srgbClr val="FFE2BB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920240" y="2386584"/>
            <a:ext cx="137160" cy="109728"/>
          </a:xfrm>
          <a:prstGeom prst="roundRect">
            <a:avLst/>
          </a:prstGeom>
          <a:solidFill>
            <a:srgbClr val="FFE2BB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121408" y="2386584"/>
            <a:ext cx="137160" cy="109728"/>
          </a:xfrm>
          <a:prstGeom prst="roundRect">
            <a:avLst/>
          </a:prstGeom>
          <a:solidFill>
            <a:srgbClr val="E8ECF2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322576" y="2386584"/>
            <a:ext cx="137160" cy="109728"/>
          </a:xfrm>
          <a:prstGeom prst="roundRect">
            <a:avLst/>
          </a:prstGeom>
          <a:solidFill>
            <a:srgbClr val="D8E2FF"/>
          </a:solidFill>
          <a:ln w="11430">
            <a:solidFill>
              <a:srgbClr val="96A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880360" y="1792224"/>
            <a:ext cx="438912" cy="246888"/>
          </a:xfrm>
          <a:prstGeom prst="roundRect">
            <a:avLst/>
          </a:prstGeom>
          <a:solidFill>
            <a:srgbClr val="F0F7FF"/>
          </a:solidFill>
          <a:ln w="11430">
            <a:solidFill>
              <a:srgbClr val="2DA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935224" y="1847088"/>
            <a:ext cx="32918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560" b="1">
                <a:solidFill>
                  <a:srgbClr val="2DAEB9"/>
                </a:solidFill>
                <a:latin typeface="Noto Sans CJK SC"/>
              </a:rPr>
              <a:t>APC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447288" y="1792224"/>
            <a:ext cx="438912" cy="246888"/>
          </a:xfrm>
          <a:prstGeom prst="roundRect">
            <a:avLst/>
          </a:prstGeom>
          <a:solidFill>
            <a:srgbClr val="F0F7FF"/>
          </a:solidFill>
          <a:ln w="11430">
            <a:solidFill>
              <a:srgbClr val="46A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502152" y="1847088"/>
            <a:ext cx="32918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560" b="1">
                <a:solidFill>
                  <a:srgbClr val="46AC5F"/>
                </a:solidFill>
                <a:latin typeface="Noto Sans CJK SC"/>
              </a:rPr>
              <a:t>Prompt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560" b="1">
                <a:solidFill>
                  <a:srgbClr val="46AC5F"/>
                </a:solidFill>
                <a:latin typeface="Noto Sans CJK SC"/>
              </a:rPr>
              <a:t>Cache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880360" y="2176272"/>
            <a:ext cx="438912" cy="246888"/>
          </a:xfrm>
          <a:prstGeom prst="roundRect">
            <a:avLst/>
          </a:prstGeom>
          <a:solidFill>
            <a:srgbClr val="F0F7FF"/>
          </a:solidFill>
          <a:ln w="11430">
            <a:solidFill>
              <a:srgbClr val="EE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35224" y="2231136"/>
            <a:ext cx="32918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560" b="1">
                <a:solidFill>
                  <a:srgbClr val="EE972D"/>
                </a:solidFill>
                <a:latin typeface="Noto Sans CJK SC"/>
              </a:rPr>
              <a:t>Cache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560" b="1">
                <a:solidFill>
                  <a:srgbClr val="EE972D"/>
                </a:solidFill>
                <a:latin typeface="Noto Sans CJK SC"/>
              </a:rPr>
              <a:t>Blend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447288" y="2176272"/>
            <a:ext cx="438912" cy="246888"/>
          </a:xfrm>
          <a:prstGeom prst="roundRect">
            <a:avLst/>
          </a:prstGeom>
          <a:solidFill>
            <a:srgbClr val="F0F7FF"/>
          </a:solidFill>
          <a:ln w="11430">
            <a:solidFill>
              <a:srgbClr val="7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502152" y="2231136"/>
            <a:ext cx="32918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560" b="1">
                <a:solidFill>
                  <a:srgbClr val="715BD2"/>
                </a:solidFill>
                <a:latin typeface="Noto Sans CJK SC"/>
              </a:rPr>
              <a:t>LMCache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26080" y="2468880"/>
            <a:ext cx="9601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CD0000"/>
                </a:solidFill>
                <a:latin typeface="Noto Sans CJK SC"/>
              </a:rPr>
              <a:t>机制可用，但“何时用、用哪个、怎么组合”未解决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292608" y="2706624"/>
            <a:ext cx="4005072" cy="0"/>
          </a:xfrm>
          <a:prstGeom prst="line">
            <a:avLst/>
          </a:prstGeom>
          <a:ln w="10160">
            <a:solidFill>
              <a:srgbClr val="789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66928" y="2807208"/>
            <a:ext cx="1600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Noto Sans CJK SC"/>
              </a:rPr>
              <a:t>多机制最优选择空间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42032" y="2807208"/>
            <a:ext cx="132588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Noto Sans CJK SC"/>
              </a:rPr>
              <a:t>静态规则易损失收益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94944" y="3511296"/>
            <a:ext cx="219456" cy="292608"/>
          </a:xfrm>
          <a:prstGeom prst="rect">
            <a:avLst/>
          </a:prstGeom>
          <a:solidFill>
            <a:srgbClr val="2DA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8368" y="3840480"/>
            <a:ext cx="292608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Noto Sans CJK SC"/>
              </a:rPr>
              <a:t>APC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" y="3401568"/>
            <a:ext cx="329184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Noto Sans CJK SC"/>
              </a:rPr>
              <a:t>32%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78992" y="3364992"/>
            <a:ext cx="219456" cy="438912"/>
          </a:xfrm>
          <a:prstGeom prst="rect">
            <a:avLst/>
          </a:prstGeom>
          <a:solidFill>
            <a:srgbClr val="E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42415" y="3840480"/>
            <a:ext cx="292608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Noto Sans CJK SC"/>
              </a:rPr>
              <a:t>CB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4127" y="3255264"/>
            <a:ext cx="329184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Noto Sans CJK SC"/>
              </a:rPr>
              <a:t>48%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463040" y="3090672"/>
            <a:ext cx="219456" cy="713232"/>
          </a:xfrm>
          <a:prstGeom prst="rect">
            <a:avLst/>
          </a:prstGeom>
          <a:solidFill>
            <a:srgbClr val="003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26464" y="3840480"/>
            <a:ext cx="292608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Noto Sans CJK SC"/>
              </a:rPr>
              <a:t>Opt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08176" y="2980944"/>
            <a:ext cx="329184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Noto Sans CJK SC"/>
              </a:rPr>
              <a:t>78%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4944" y="4005072"/>
            <a:ext cx="105156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003FA4"/>
                </a:solidFill>
                <a:latin typeface="Noto Sans CJK SC"/>
              </a:rPr>
              <a:t>共享收益覆盖率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468880" y="3227832"/>
            <a:ext cx="320040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580" b="1">
                <a:solidFill>
                  <a:srgbClr val="2DAEB9"/>
                </a:solidFill>
                <a:latin typeface="Noto Sans CJK SC"/>
              </a:rPr>
              <a:t>TTFT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834640" y="3218688"/>
            <a:ext cx="914400" cy="100584"/>
          </a:xfrm>
          <a:prstGeom prst="roundRect">
            <a:avLst/>
          </a:prstGeom>
          <a:solidFill>
            <a:srgbClr val="2DA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468880" y="3447287"/>
            <a:ext cx="320040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580" b="1">
                <a:solidFill>
                  <a:srgbClr val="EE972D"/>
                </a:solidFill>
                <a:latin typeface="Noto Sans CJK SC"/>
              </a:rPr>
              <a:t>MEM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834640" y="3438144"/>
            <a:ext cx="566928" cy="100584"/>
          </a:xfrm>
          <a:prstGeom prst="roundRect">
            <a:avLst/>
          </a:prstGeom>
          <a:solidFill>
            <a:srgbClr val="E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468880" y="3666744"/>
            <a:ext cx="320040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580" b="1">
                <a:solidFill>
                  <a:srgbClr val="715BD2"/>
                </a:solidFill>
                <a:latin typeface="Noto Sans CJK SC"/>
              </a:rPr>
              <a:t>SLO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834640" y="3657600"/>
            <a:ext cx="749808" cy="100584"/>
          </a:xfrm>
          <a:prstGeom prst="roundRect">
            <a:avLst/>
          </a:prstGeom>
          <a:solidFill>
            <a:srgbClr val="71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560320" y="4005072"/>
            <a:ext cx="123444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003FA4"/>
                </a:solidFill>
                <a:latin typeface="Noto Sans CJK SC"/>
              </a:rPr>
              <a:t>代价维度不一致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709160" y="1664208"/>
            <a:ext cx="3611880" cy="530352"/>
          </a:xfrm>
          <a:prstGeom prst="roundRect">
            <a:avLst/>
          </a:prstGeom>
          <a:solidFill>
            <a:srgbClr val="EFF7FF"/>
          </a:solidFill>
          <a:ln w="11430"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4828032" y="1773936"/>
            <a:ext cx="502920" cy="228600"/>
          </a:xfrm>
          <a:prstGeom prst="roundRect">
            <a:avLst/>
          </a:prstGeom>
          <a:solidFill>
            <a:srgbClr val="003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928616" y="1824228"/>
            <a:ext cx="310896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CJK SC"/>
              </a:rPr>
              <a:t>核心
建模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32120" y="1755648"/>
            <a:ext cx="2606040" cy="100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1">
                <a:solidFill>
                  <a:srgbClr val="000000"/>
                </a:solidFill>
                <a:latin typeface="Noto Sans CJK SC"/>
              </a:rPr>
              <a:t>Plan* = argmin Cost(candidate, mechanism, state)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532120" y="1956816"/>
            <a:ext cx="260604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003FA4"/>
                </a:solidFill>
                <a:latin typeface="Noto Sans CJK SC"/>
              </a:rPr>
              <a:t>use candidate graph + cost model + global selector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87568" y="2331720"/>
            <a:ext cx="178308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19" b="1">
                <a:solidFill>
                  <a:srgbClr val="000000"/>
                </a:solidFill>
                <a:latin typeface="Noto Sans CJK SC"/>
              </a:rPr>
              <a:t>四阶段选择流程（示意）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773168" y="2633472"/>
            <a:ext cx="621792" cy="329184"/>
          </a:xfrm>
          <a:prstGeom prst="roundRect">
            <a:avLst/>
          </a:prstGeom>
          <a:solidFill>
            <a:srgbClr val="F5F9FF"/>
          </a:solidFill>
          <a:ln w="11430">
            <a:solidFill>
              <a:srgbClr val="2DA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837176" y="27157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10" b="1">
                <a:solidFill>
                  <a:srgbClr val="2DAEB9"/>
                </a:solidFill>
                <a:latin typeface="Noto Sans CJK SC"/>
              </a:rPr>
              <a:t>1. Request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10" b="1">
                <a:solidFill>
                  <a:srgbClr val="2DAEB9"/>
                </a:solidFill>
                <a:latin typeface="Noto Sans CJK SC"/>
              </a:rPr>
              <a:t>Analyzer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650992" y="2633472"/>
            <a:ext cx="621792" cy="329184"/>
          </a:xfrm>
          <a:prstGeom prst="roundRect">
            <a:avLst/>
          </a:prstGeom>
          <a:solidFill>
            <a:srgbClr val="F5F9FF"/>
          </a:solidFill>
          <a:ln w="11430">
            <a:solidFill>
              <a:srgbClr val="EE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715000" y="27157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10" b="1">
                <a:solidFill>
                  <a:srgbClr val="EE972D"/>
                </a:solidFill>
                <a:latin typeface="Noto Sans CJK SC"/>
              </a:rPr>
              <a:t>2. Cost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10" b="1">
                <a:solidFill>
                  <a:srgbClr val="EE972D"/>
                </a:solidFill>
                <a:latin typeface="Noto Sans CJK SC"/>
              </a:rPr>
              <a:t>Model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5394959" y="2798064"/>
            <a:ext cx="256033" cy="0"/>
          </a:xfrm>
          <a:prstGeom prst="line">
            <a:avLst/>
          </a:prstGeom>
          <a:ln w="15240">
            <a:solidFill>
              <a:srgbClr val="003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6528816" y="2633472"/>
            <a:ext cx="621792" cy="329184"/>
          </a:xfrm>
          <a:prstGeom prst="roundRect">
            <a:avLst/>
          </a:prstGeom>
          <a:solidFill>
            <a:srgbClr val="F5F9FF"/>
          </a:solidFill>
          <a:ln w="11430">
            <a:solidFill>
              <a:srgbClr val="7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592824" y="27157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10" b="1">
                <a:solidFill>
                  <a:srgbClr val="715BD2"/>
                </a:solidFill>
                <a:latin typeface="Noto Sans CJK SC"/>
              </a:rPr>
              <a:t>3. Plan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10" b="1">
                <a:solidFill>
                  <a:srgbClr val="715BD2"/>
                </a:solidFill>
                <a:latin typeface="Noto Sans CJK SC"/>
              </a:rPr>
              <a:t>Selector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6272783" y="2798064"/>
            <a:ext cx="256033" cy="0"/>
          </a:xfrm>
          <a:prstGeom prst="line">
            <a:avLst/>
          </a:prstGeom>
          <a:ln w="15240">
            <a:solidFill>
              <a:srgbClr val="003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7406640" y="2633472"/>
            <a:ext cx="621792" cy="329184"/>
          </a:xfrm>
          <a:prstGeom prst="roundRect">
            <a:avLst/>
          </a:prstGeom>
          <a:solidFill>
            <a:srgbClr val="F5F9FF"/>
          </a:solidFill>
          <a:ln w="11430">
            <a:solidFill>
              <a:srgbClr val="46A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470648" y="2715768"/>
            <a:ext cx="49377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10" b="1">
                <a:solidFill>
                  <a:srgbClr val="46AC5F"/>
                </a:solidFill>
                <a:latin typeface="Noto Sans CJK SC"/>
              </a:rPr>
              <a:t>4. Execution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10" b="1">
                <a:solidFill>
                  <a:srgbClr val="46AC5F"/>
                </a:solidFill>
                <a:latin typeface="Noto Sans CJK SC"/>
              </a:rPr>
              <a:t>Coordinator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7150607" y="2798064"/>
            <a:ext cx="256033" cy="0"/>
          </a:xfrm>
          <a:prstGeom prst="line">
            <a:avLst/>
          </a:prstGeom>
          <a:ln w="15240">
            <a:solidFill>
              <a:srgbClr val="003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4892040" y="3154680"/>
            <a:ext cx="137160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70" b="1">
                <a:solidFill>
                  <a:srgbClr val="003FA4"/>
                </a:solidFill>
                <a:latin typeface="Noto Sans CJK SC"/>
              </a:rPr>
              <a:t>候选结构 × 共享机制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010912" y="3346704"/>
            <a:ext cx="137160" cy="82296"/>
          </a:xfrm>
          <a:prstGeom prst="rect">
            <a:avLst/>
          </a:prstGeom>
          <a:solidFill>
            <a:srgbClr val="4896D2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212080" y="3346704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413248" y="3346704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614416" y="3346704"/>
            <a:ext cx="137160" cy="82296"/>
          </a:xfrm>
          <a:prstGeom prst="rect">
            <a:avLst/>
          </a:prstGeom>
          <a:solidFill>
            <a:srgbClr val="4896D2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15584" y="3346704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010912" y="3474720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212080" y="3474720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413248" y="3474720"/>
            <a:ext cx="137160" cy="82296"/>
          </a:xfrm>
          <a:prstGeom prst="rect">
            <a:avLst/>
          </a:prstGeom>
          <a:solidFill>
            <a:srgbClr val="4896D2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614416" y="3474720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815584" y="3474720"/>
            <a:ext cx="137160" cy="82296"/>
          </a:xfrm>
          <a:prstGeom prst="rect">
            <a:avLst/>
          </a:prstGeom>
          <a:solidFill>
            <a:srgbClr val="FFDEB4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010912" y="3602736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212080" y="3602736"/>
            <a:ext cx="137160" cy="82296"/>
          </a:xfrm>
          <a:prstGeom prst="rect">
            <a:avLst/>
          </a:prstGeom>
          <a:solidFill>
            <a:srgbClr val="4896D2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413248" y="3602736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614416" y="3602736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815584" y="3602736"/>
            <a:ext cx="137160" cy="82296"/>
          </a:xfrm>
          <a:prstGeom prst="rect">
            <a:avLst/>
          </a:prstGeom>
          <a:solidFill>
            <a:srgbClr val="FFDEB4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010912" y="3730752"/>
            <a:ext cx="137160" cy="82296"/>
          </a:xfrm>
          <a:prstGeom prst="rect">
            <a:avLst/>
          </a:prstGeom>
          <a:solidFill>
            <a:srgbClr val="4896D2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212080" y="3730752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413248" y="3730752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614416" y="3730752"/>
            <a:ext cx="137160" cy="82296"/>
          </a:xfrm>
          <a:prstGeom prst="rect">
            <a:avLst/>
          </a:prstGeom>
          <a:solidFill>
            <a:srgbClr val="4896D2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815584" y="3730752"/>
            <a:ext cx="137160" cy="82296"/>
          </a:xfrm>
          <a:prstGeom prst="rect">
            <a:avLst/>
          </a:prstGeom>
          <a:solidFill>
            <a:srgbClr val="E6EFFC"/>
          </a:solidFill>
          <a:ln w="1143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620256" y="3163824"/>
            <a:ext cx="137160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70" b="1">
                <a:solidFill>
                  <a:srgbClr val="003FA4"/>
                </a:solidFill>
                <a:latin typeface="Noto Sans CJK SC"/>
              </a:rPr>
              <a:t>输出：混合执行计划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656832" y="3383280"/>
            <a:ext cx="256032" cy="146304"/>
          </a:xfrm>
          <a:prstGeom prst="roundRect">
            <a:avLst/>
          </a:prstGeom>
          <a:solidFill>
            <a:srgbClr val="F5F9FF"/>
          </a:solidFill>
          <a:ln w="11430">
            <a:solidFill>
              <a:srgbClr val="2DA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684264" y="3424428"/>
            <a:ext cx="201168" cy="45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90" b="1">
                <a:solidFill>
                  <a:srgbClr val="2DAEB9"/>
                </a:solidFill>
                <a:latin typeface="Noto Sans CJK SC"/>
              </a:rPr>
              <a:t>APC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7013448" y="3383280"/>
            <a:ext cx="256032" cy="146304"/>
          </a:xfrm>
          <a:prstGeom prst="roundRect">
            <a:avLst/>
          </a:prstGeom>
          <a:solidFill>
            <a:srgbClr val="F5F9FF"/>
          </a:solidFill>
          <a:ln w="11430">
            <a:solidFill>
              <a:srgbClr val="EE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040879" y="3424428"/>
            <a:ext cx="201168" cy="45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90" b="1">
                <a:solidFill>
                  <a:srgbClr val="EE972D"/>
                </a:solidFill>
                <a:latin typeface="Noto Sans CJK SC"/>
              </a:rPr>
              <a:t>CB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6912864" y="3456432"/>
            <a:ext cx="100584" cy="0"/>
          </a:xfrm>
          <a:prstGeom prst="line">
            <a:avLst/>
          </a:prstGeom>
          <a:ln w="10160">
            <a:solidFill>
              <a:srgbClr val="003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ounded Rectangle 174"/>
          <p:cNvSpPr/>
          <p:nvPr/>
        </p:nvSpPr>
        <p:spPr>
          <a:xfrm>
            <a:off x="7370064" y="3383280"/>
            <a:ext cx="256032" cy="146304"/>
          </a:xfrm>
          <a:prstGeom prst="roundRect">
            <a:avLst/>
          </a:prstGeom>
          <a:solidFill>
            <a:srgbClr val="F5F9FF"/>
          </a:solidFill>
          <a:ln w="11430">
            <a:solidFill>
              <a:srgbClr val="505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397496" y="3424428"/>
            <a:ext cx="201168" cy="45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90" b="1">
                <a:solidFill>
                  <a:srgbClr val="505A69"/>
                </a:solidFill>
                <a:latin typeface="Noto Sans CJK SC"/>
              </a:rPr>
              <a:t>Full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7269480" y="3456432"/>
            <a:ext cx="100584" cy="0"/>
          </a:xfrm>
          <a:prstGeom prst="line">
            <a:avLst/>
          </a:prstGeom>
          <a:ln w="10160">
            <a:solidFill>
              <a:srgbClr val="003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ounded Rectangle 177"/>
          <p:cNvSpPr/>
          <p:nvPr/>
        </p:nvSpPr>
        <p:spPr>
          <a:xfrm>
            <a:off x="7726679" y="3383280"/>
            <a:ext cx="256032" cy="146304"/>
          </a:xfrm>
          <a:prstGeom prst="roundRect">
            <a:avLst/>
          </a:prstGeom>
          <a:solidFill>
            <a:srgbClr val="F5F9FF"/>
          </a:solidFill>
          <a:ln w="11430">
            <a:solidFill>
              <a:srgbClr val="71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754112" y="3424428"/>
            <a:ext cx="201168" cy="45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90" b="1">
                <a:solidFill>
                  <a:srgbClr val="715BD2"/>
                </a:solidFill>
                <a:latin typeface="Noto Sans CJK SC"/>
              </a:rPr>
              <a:t>LMC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7626096" y="3456432"/>
            <a:ext cx="100583" cy="0"/>
          </a:xfrm>
          <a:prstGeom prst="line">
            <a:avLst/>
          </a:prstGeom>
          <a:ln w="10160">
            <a:solidFill>
              <a:srgbClr val="003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180"/>
          <p:cNvSpPr/>
          <p:nvPr/>
        </p:nvSpPr>
        <p:spPr>
          <a:xfrm>
            <a:off x="4709160" y="3703320"/>
            <a:ext cx="3611880" cy="320040"/>
          </a:xfrm>
          <a:prstGeom prst="roundRect">
            <a:avLst/>
          </a:prstGeom>
          <a:solidFill>
            <a:srgbClr val="FFF8EE"/>
          </a:solidFill>
          <a:ln w="11430">
            <a:solidFill>
              <a:srgbClr val="EE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846320" y="3794760"/>
            <a:ext cx="3337560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40" b="1">
                <a:solidFill>
                  <a:srgbClr val="CD0000"/>
                </a:solidFill>
                <a:latin typeface="Noto Sans CJK SC"/>
              </a:rPr>
              <a:t>方案挑战：候选检测开销、Cost Model 误差、Plan Search 剪枝与 vLLM 集成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6888" y="4242816"/>
            <a:ext cx="1389888" cy="457200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ight Triangle 183"/>
          <p:cNvSpPr/>
          <p:nvPr/>
        </p:nvSpPr>
        <p:spPr>
          <a:xfrm>
            <a:off x="1417320" y="4242816"/>
            <a:ext cx="329184" cy="457200"/>
          </a:xfrm>
          <a:prstGeom prst="rtTriangle">
            <a:avLst/>
          </a:prstGeom>
          <a:solidFill>
            <a:srgbClr val="E6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645920" y="4242816"/>
            <a:ext cx="6812280" cy="457200"/>
          </a:xfrm>
          <a:prstGeom prst="rect">
            <a:avLst/>
          </a:prstGeom>
          <a:solidFill>
            <a:srgbClr val="FF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57200" y="4370832"/>
            <a:ext cx="8229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达成效果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901952" y="4361688"/>
            <a:ext cx="62636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Noto Sans CJK SC"/>
              </a:rPr>
              <a:t>KV-Optimizer 用代价模型组合多种共享机制，降低 TTFT / Prefill 计算并提升混合负载 SLO 满足率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439912" y="4882896"/>
            <a:ext cx="274320" cy="64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580" b="0">
                <a:solidFill>
                  <a:srgbClr val="003FA4"/>
                </a:solidFill>
                <a:latin typeface="Noto Sans CJK SC"/>
              </a:rPr>
              <a:t>Page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