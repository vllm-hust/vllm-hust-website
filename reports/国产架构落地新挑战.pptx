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E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83480" y="114299"/>
            <a:ext cx="10972" cy="50292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99939" y="106382"/>
            <a:ext cx="10972" cy="58209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16398" y="98956"/>
            <a:ext cx="10972" cy="6563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2857" y="92484"/>
            <a:ext cx="10972" cy="72107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49316" y="87369"/>
            <a:ext cx="10972" cy="77222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65776" y="83928"/>
            <a:ext cx="10972" cy="80663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82235" y="82376"/>
            <a:ext cx="10972" cy="8221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98694" y="82808"/>
            <a:ext cx="10972" cy="81783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15153" y="85198"/>
            <a:ext cx="10972" cy="79393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31612" y="89398"/>
            <a:ext cx="10972" cy="75193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48072" y="95146"/>
            <a:ext cx="10972" cy="6944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4531" y="102085"/>
            <a:ext cx="10972" cy="6250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80990" y="109783"/>
            <a:ext cx="10972" cy="5480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97449" y="117762"/>
            <a:ext cx="10972" cy="46829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3908" y="125526"/>
            <a:ext cx="10972" cy="3906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30368" y="132592"/>
            <a:ext cx="10972" cy="31999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46827" y="138520"/>
            <a:ext cx="10972" cy="26071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63286" y="142943"/>
            <a:ext cx="10972" cy="2164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745" y="145584"/>
            <a:ext cx="10972" cy="19007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96204" y="146281"/>
            <a:ext cx="10972" cy="18310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12664" y="144989"/>
            <a:ext cx="10972" cy="19602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29123" y="141789"/>
            <a:ext cx="10972" cy="22802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45582" y="136880"/>
            <a:ext cx="10972" cy="27711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62041" y="130566"/>
            <a:ext cx="10972" cy="3402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78500" y="123242"/>
            <a:ext cx="10972" cy="41349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94960" y="115361"/>
            <a:ext cx="10972" cy="49230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11419" y="107415"/>
            <a:ext cx="10972" cy="5717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27878" y="99896"/>
            <a:ext cx="10972" cy="6469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4337" y="93273"/>
            <a:ext cx="10972" cy="7131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60796" y="87958"/>
            <a:ext cx="10972" cy="76633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77256" y="84280"/>
            <a:ext cx="10972" cy="80311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93715" y="82468"/>
            <a:ext cx="10972" cy="82123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0174" y="82636"/>
            <a:ext cx="10972" cy="8195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26633" y="84772"/>
            <a:ext cx="10972" cy="79819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43092" y="88745"/>
            <a:ext cx="10972" cy="7584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9552" y="94306"/>
            <a:ext cx="10972" cy="7028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76011" y="101110"/>
            <a:ext cx="10972" cy="63481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592470" y="108734"/>
            <a:ext cx="10972" cy="55857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08929" y="116705"/>
            <a:ext cx="10972" cy="4788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25388" y="124525"/>
            <a:ext cx="10972" cy="4006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41848" y="131710"/>
            <a:ext cx="10972" cy="32881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58307" y="137813"/>
            <a:ext cx="10972" cy="2677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74766" y="142453"/>
            <a:ext cx="10972" cy="2213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91225" y="145343"/>
            <a:ext cx="10972" cy="1924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707684" y="146303"/>
            <a:ext cx="10972" cy="1828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24144" y="145273"/>
            <a:ext cx="10972" cy="1931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740603" y="142317"/>
            <a:ext cx="10972" cy="22274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757062" y="137620"/>
            <a:ext cx="10972" cy="26971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773521" y="131472"/>
            <a:ext cx="10972" cy="33119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89980" y="124257"/>
            <a:ext cx="10972" cy="40334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806440" y="116422"/>
            <a:ext cx="10972" cy="48169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822899" y="108456"/>
            <a:ext cx="10972" cy="5613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839358" y="100852"/>
            <a:ext cx="10972" cy="63739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55817" y="94085"/>
            <a:ext cx="10972" cy="7050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872276" y="88575"/>
            <a:ext cx="10972" cy="7601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03720" y="32004"/>
            <a:ext cx="1737360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80" b="0">
                <a:solidFill>
                  <a:srgbClr val="FFFFFF"/>
                </a:solidFill>
                <a:latin typeface="Noto Sans CJK SC"/>
              </a:rPr>
              <a:t>Huazhong University of Science and Technology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2880" y="274320"/>
            <a:ext cx="62179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1">
                <a:solidFill>
                  <a:srgbClr val="1243A3"/>
                </a:solidFill>
                <a:latin typeface="Noto Sans CJK SC"/>
              </a:rPr>
              <a:t>研究挑战3 - </a:t>
            </a:r>
            <a:r>
              <a:rPr sz="2200" b="1">
                <a:solidFill>
                  <a:srgbClr val="CD0000"/>
                </a:solidFill>
                <a:latin typeface="Noto Sans CJK SC"/>
              </a:rPr>
              <a:t>国产架构落地新挑战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" y="694944"/>
            <a:ext cx="81381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000000"/>
                </a:solidFill>
                <a:latin typeface="Noto Sans CJK SC"/>
              </a:rPr>
              <a:t>▸ 昇腾、海光、沐曦、昆仑芯等平台在计算架构、软件栈、互联协议、算子支持和图执行机制上</a:t>
            </a:r>
            <a:r>
              <a:rPr sz="1350" b="1">
                <a:solidFill>
                  <a:srgbClr val="CD0000"/>
                </a:solidFill>
                <a:latin typeface="Noto Sans CJK SC"/>
              </a:rPr>
              <a:t>持续分化。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1168" y="1042415"/>
            <a:ext cx="4041648" cy="3401568"/>
          </a:xfrm>
          <a:prstGeom prst="rect">
            <a:avLst/>
          </a:prstGeom>
          <a:solidFill>
            <a:srgbClr val="FFFFFF"/>
          </a:solidFill>
          <a:ln w="11430">
            <a:solidFill>
              <a:srgbClr val="4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480560" y="1042415"/>
            <a:ext cx="4389120" cy="3401568"/>
          </a:xfrm>
          <a:prstGeom prst="rect">
            <a:avLst/>
          </a:prstGeom>
          <a:solidFill>
            <a:srgbClr val="FFFFFF"/>
          </a:solidFill>
          <a:ln w="11430">
            <a:solidFill>
              <a:srgbClr val="4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219456" y="2157984"/>
            <a:ext cx="4005072" cy="0"/>
          </a:xfrm>
          <a:prstGeom prst="line">
            <a:avLst/>
          </a:prstGeom>
          <a:ln w="10160">
            <a:solidFill>
              <a:srgbClr val="5884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498848" y="2157984"/>
            <a:ext cx="4352544" cy="0"/>
          </a:xfrm>
          <a:prstGeom prst="line">
            <a:avLst/>
          </a:prstGeom>
          <a:ln w="10160">
            <a:solidFill>
              <a:srgbClr val="5884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19456" y="3273552"/>
            <a:ext cx="4005072" cy="0"/>
          </a:xfrm>
          <a:prstGeom prst="line">
            <a:avLst/>
          </a:prstGeom>
          <a:ln w="10160">
            <a:solidFill>
              <a:srgbClr val="5884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498848" y="3273552"/>
            <a:ext cx="4352544" cy="0"/>
          </a:xfrm>
          <a:prstGeom prst="line">
            <a:avLst/>
          </a:prstGeom>
          <a:ln w="10160">
            <a:solidFill>
              <a:srgbClr val="5884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ight Triangle 66"/>
          <p:cNvSpPr/>
          <p:nvPr/>
        </p:nvSpPr>
        <p:spPr>
          <a:xfrm>
            <a:off x="4178808" y="1719072"/>
            <a:ext cx="256032" cy="320040"/>
          </a:xfrm>
          <a:prstGeom prst="rtTriangle">
            <a:avLst/>
          </a:prstGeom>
          <a:solidFill>
            <a:srgbClr val="87A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ight Triangle 67"/>
          <p:cNvSpPr/>
          <p:nvPr/>
        </p:nvSpPr>
        <p:spPr>
          <a:xfrm>
            <a:off x="4178808" y="2834640"/>
            <a:ext cx="256032" cy="320040"/>
          </a:xfrm>
          <a:prstGeom prst="rtTriangle">
            <a:avLst/>
          </a:prstGeom>
          <a:solidFill>
            <a:srgbClr val="87A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ight Triangle 68"/>
          <p:cNvSpPr/>
          <p:nvPr/>
        </p:nvSpPr>
        <p:spPr>
          <a:xfrm>
            <a:off x="4178808" y="3840480"/>
            <a:ext cx="256032" cy="320040"/>
          </a:xfrm>
          <a:prstGeom prst="rtTriangle">
            <a:avLst/>
          </a:prstGeom>
          <a:solidFill>
            <a:srgbClr val="87A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02336" y="1143000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08C96"/>
                </a:solidFill>
                <a:latin typeface="Noto Sans CJK SC"/>
              </a:rPr>
              <a:t>算力后端差异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0896" y="1417319"/>
            <a:ext cx="1600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819" b="1">
                <a:solidFill>
                  <a:srgbClr val="000000"/>
                </a:solidFill>
                <a:latin typeface="Noto Sans CJK SC"/>
              </a:rPr>
              <a:t>NPU / GPGPU / XPU 的 kernel、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819" b="1">
                <a:solidFill>
                  <a:srgbClr val="000000"/>
                </a:solidFill>
                <a:latin typeface="Noto Sans CJK SC"/>
              </a:rPr>
              <a:t>shape 支持、精度路径和融合能力不同。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984248" y="1188720"/>
            <a:ext cx="384048" cy="310896"/>
          </a:xfrm>
          <a:prstGeom prst="roundRect">
            <a:avLst/>
          </a:prstGeom>
          <a:solidFill>
            <a:srgbClr val="EEF6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39112" y="1280160"/>
            <a:ext cx="27432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008C96"/>
                </a:solidFill>
                <a:latin typeface="Noto Sans CJK SC"/>
              </a:rPr>
              <a:t>NPU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496312" y="1188720"/>
            <a:ext cx="384048" cy="310896"/>
          </a:xfrm>
          <a:prstGeom prst="roundRect">
            <a:avLst/>
          </a:prstGeom>
          <a:solidFill>
            <a:srgbClr val="EEF6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551176" y="1280160"/>
            <a:ext cx="27432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7056CD"/>
                </a:solidFill>
                <a:latin typeface="Noto Sans CJK SC"/>
              </a:rPr>
              <a:t>DCU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008376" y="1188720"/>
            <a:ext cx="384048" cy="310896"/>
          </a:xfrm>
          <a:prstGeom prst="roundRect">
            <a:avLst/>
          </a:prstGeom>
          <a:solidFill>
            <a:srgbClr val="EEF6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63240" y="1280160"/>
            <a:ext cx="27432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2DA055"/>
                </a:solidFill>
                <a:latin typeface="Noto Sans CJK SC"/>
              </a:rPr>
              <a:t>XPU</a:t>
            </a:r>
          </a:p>
        </p:txBody>
      </p:sp>
      <p:cxnSp>
        <p:nvCxnSpPr>
          <p:cNvPr id="78" name="Connector 77"/>
          <p:cNvCxnSpPr/>
          <p:nvPr/>
        </p:nvCxnSpPr>
        <p:spPr>
          <a:xfrm flipV="1">
            <a:off x="1911095" y="1645920"/>
            <a:ext cx="1764792" cy="36576"/>
          </a:xfrm>
          <a:prstGeom prst="line">
            <a:avLst/>
          </a:prstGeom>
          <a:ln w="12700">
            <a:solidFill>
              <a:srgbClr val="00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911095" y="1783080"/>
            <a:ext cx="1764792" cy="73152"/>
          </a:xfrm>
          <a:prstGeom prst="line">
            <a:avLst/>
          </a:prstGeom>
          <a:ln w="12700">
            <a:solidFill>
              <a:srgbClr val="705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911095" y="1847088"/>
            <a:ext cx="1764792" cy="36576"/>
          </a:xfrm>
          <a:prstGeom prst="line">
            <a:avLst/>
          </a:prstGeom>
          <a:ln w="12700">
            <a:solidFill>
              <a:srgbClr val="2DA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911095" y="1984248"/>
            <a:ext cx="1764792" cy="73152"/>
          </a:xfrm>
          <a:prstGeom prst="line">
            <a:avLst/>
          </a:prstGeom>
          <a:ln w="12700">
            <a:solidFill>
              <a:srgbClr val="EB8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072384" y="1627632"/>
            <a:ext cx="65836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60" b="1">
                <a:solidFill>
                  <a:srgbClr val="505A69"/>
                </a:solidFill>
                <a:latin typeface="Noto Sans CJK SC"/>
              </a:rPr>
              <a:t>kernel paths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2336" y="2258568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DA055"/>
                </a:solidFill>
                <a:latin typeface="Noto Sans CJK SC"/>
              </a:rPr>
              <a:t>内存与互联差异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0896" y="2532888"/>
            <a:ext cx="1600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819" b="1">
                <a:solidFill>
                  <a:srgbClr val="000000"/>
                </a:solidFill>
                <a:latin typeface="Noto Sans CJK SC"/>
              </a:rPr>
              <a:t>HBM / DRAM / NUMA / 集群互联层级不同，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819" b="1">
                <a:solidFill>
                  <a:srgbClr val="000000"/>
                </a:solidFill>
                <a:latin typeface="Noto Sans CJK SC"/>
              </a:rPr>
              <a:t>KV cache 与通信策略不能照搬。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984248" y="2331720"/>
            <a:ext cx="1298448" cy="146304"/>
          </a:xfrm>
          <a:prstGeom prst="roundRect">
            <a:avLst/>
          </a:prstGeom>
          <a:solidFill>
            <a:srgbClr val="00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20824" y="2354580"/>
            <a:ext cx="292608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" b="1">
                <a:solidFill>
                  <a:srgbClr val="FFFFFF"/>
                </a:solidFill>
                <a:latin typeface="Noto Sans CJK SC"/>
              </a:rPr>
              <a:t>HBM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057400" y="2542032"/>
            <a:ext cx="987552" cy="146304"/>
          </a:xfrm>
          <a:prstGeom prst="roundRect">
            <a:avLst/>
          </a:prstGeom>
          <a:solidFill>
            <a:srgbClr val="2DA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93976" y="2564892"/>
            <a:ext cx="292608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" b="1">
                <a:solidFill>
                  <a:srgbClr val="FFFFFF"/>
                </a:solidFill>
                <a:latin typeface="Noto Sans CJK SC"/>
              </a:rPr>
              <a:t>CPU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130552" y="2752344"/>
            <a:ext cx="694944" cy="146304"/>
          </a:xfrm>
          <a:prstGeom prst="roundRect">
            <a:avLst/>
          </a:prstGeom>
          <a:solidFill>
            <a:srgbClr val="705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167128" y="2775204"/>
            <a:ext cx="292608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" b="1">
                <a:solidFill>
                  <a:srgbClr val="FFFFFF"/>
                </a:solidFill>
                <a:latin typeface="Noto Sans CJK SC"/>
              </a:rPr>
              <a:t>NET</a:t>
            </a:r>
          </a:p>
        </p:txBody>
      </p:sp>
      <p:cxnSp>
        <p:nvCxnSpPr>
          <p:cNvPr id="91" name="Connector 90"/>
          <p:cNvCxnSpPr/>
          <p:nvPr/>
        </p:nvCxnSpPr>
        <p:spPr>
          <a:xfrm flipH="1" flipV="1">
            <a:off x="2048256" y="2798064"/>
            <a:ext cx="45720" cy="164592"/>
          </a:xfrm>
          <a:prstGeom prst="line">
            <a:avLst/>
          </a:prstGeom>
          <a:ln w="10160">
            <a:solidFill>
              <a:srgbClr val="EB8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258568" y="2798064"/>
            <a:ext cx="73152" cy="164592"/>
          </a:xfrm>
          <a:prstGeom prst="line">
            <a:avLst/>
          </a:prstGeom>
          <a:ln w="1016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 flipV="1">
            <a:off x="2377440" y="2798064"/>
            <a:ext cx="45720" cy="164592"/>
          </a:xfrm>
          <a:prstGeom prst="line">
            <a:avLst/>
          </a:prstGeom>
          <a:ln w="1016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2587752" y="2798064"/>
            <a:ext cx="73152" cy="164592"/>
          </a:xfrm>
          <a:prstGeom prst="line">
            <a:avLst/>
          </a:prstGeom>
          <a:ln w="10160">
            <a:solidFill>
              <a:srgbClr val="EB8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 flipV="1">
            <a:off x="2706624" y="2798064"/>
            <a:ext cx="45720" cy="164592"/>
          </a:xfrm>
          <a:prstGeom prst="line">
            <a:avLst/>
          </a:prstGeom>
          <a:ln w="1016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2916936" y="2798064"/>
            <a:ext cx="73152" cy="164592"/>
          </a:xfrm>
          <a:prstGeom prst="line">
            <a:avLst/>
          </a:prstGeom>
          <a:ln w="1016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 flipV="1">
            <a:off x="3035808" y="2798064"/>
            <a:ext cx="45720" cy="164592"/>
          </a:xfrm>
          <a:prstGeom prst="line">
            <a:avLst/>
          </a:prstGeom>
          <a:ln w="10160">
            <a:solidFill>
              <a:srgbClr val="EB8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246120" y="2798064"/>
            <a:ext cx="73152" cy="164592"/>
          </a:xfrm>
          <a:prstGeom prst="line">
            <a:avLst/>
          </a:prstGeom>
          <a:ln w="1016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 flipV="1">
            <a:off x="3364992" y="2798064"/>
            <a:ext cx="45720" cy="164592"/>
          </a:xfrm>
          <a:prstGeom prst="line">
            <a:avLst/>
          </a:prstGeom>
          <a:ln w="1016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3081528" y="2944368"/>
            <a:ext cx="566928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50" b="1">
                <a:solidFill>
                  <a:srgbClr val="505A69"/>
                </a:solidFill>
                <a:latin typeface="Noto Sans CJK SC"/>
              </a:rPr>
              <a:t>KV / comm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2336" y="3374136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B8F22"/>
                </a:solidFill>
                <a:latin typeface="Noto Sans CJK SC"/>
              </a:rPr>
              <a:t>图执行机制差异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10896" y="3648456"/>
            <a:ext cx="1600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819" b="1">
                <a:solidFill>
                  <a:srgbClr val="000000"/>
                </a:solidFill>
                <a:latin typeface="Noto Sans CJK SC"/>
              </a:rPr>
              <a:t>动态图、静态图、编译缓存、算子 fallback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819" b="1">
                <a:solidFill>
                  <a:srgbClr val="000000"/>
                </a:solidFill>
                <a:latin typeface="Noto Sans CJK SC"/>
              </a:rPr>
              <a:t>决定启动、迭代和调试成本。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984248" y="3465576"/>
            <a:ext cx="228600" cy="146304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2331720" y="3465576"/>
            <a:ext cx="228600" cy="146304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2212848" y="3538728"/>
            <a:ext cx="118872" cy="0"/>
          </a:xfrm>
          <a:prstGeom prst="line">
            <a:avLst/>
          </a:prstGeom>
          <a:ln w="1016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2679191" y="3465576"/>
            <a:ext cx="228600" cy="146304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2560320" y="3538728"/>
            <a:ext cx="118871" cy="0"/>
          </a:xfrm>
          <a:prstGeom prst="line">
            <a:avLst/>
          </a:prstGeom>
          <a:ln w="1016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3026664" y="3465576"/>
            <a:ext cx="228600" cy="146304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2907791" y="3538728"/>
            <a:ext cx="118873" cy="0"/>
          </a:xfrm>
          <a:prstGeom prst="line">
            <a:avLst/>
          </a:prstGeom>
          <a:ln w="1016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/>
          <p:cNvSpPr/>
          <p:nvPr/>
        </p:nvSpPr>
        <p:spPr>
          <a:xfrm>
            <a:off x="2313432" y="3803904"/>
            <a:ext cx="804672" cy="164592"/>
          </a:xfrm>
          <a:prstGeom prst="roundRect">
            <a:avLst/>
          </a:prstGeom>
          <a:solidFill>
            <a:srgbClr val="FFEFDA"/>
          </a:solidFill>
          <a:ln w="11430">
            <a:solidFill>
              <a:srgbClr val="EB8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377440" y="3845052"/>
            <a:ext cx="658368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30" b="1">
                <a:solidFill>
                  <a:srgbClr val="EB8F22"/>
                </a:solidFill>
                <a:latin typeface="Noto Sans CJK SC"/>
              </a:rPr>
              <a:t>compile cache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300984" y="3785616"/>
            <a:ext cx="384048" cy="182880"/>
          </a:xfrm>
          <a:prstGeom prst="roundRect">
            <a:avLst/>
          </a:prstGeom>
          <a:solidFill>
            <a:srgbClr val="FFEBEB"/>
          </a:solidFill>
          <a:ln w="11430">
            <a:solidFill>
              <a:srgbClr val="C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337560" y="3835908"/>
            <a:ext cx="310896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0" b="1">
                <a:solidFill>
                  <a:srgbClr val="CD0000"/>
                </a:solidFill>
                <a:latin typeface="Noto Sans CJK SC"/>
              </a:rPr>
              <a:t>fallback</a:t>
            </a:r>
          </a:p>
        </p:txBody>
      </p:sp>
      <p:sp>
        <p:nvSpPr>
          <p:cNvPr id="114" name="TextBox 113"/>
          <p:cNvSpPr txBox="1"/>
          <p:nvPr/>
        </p:nvSpPr>
        <p:spPr>
          <a:xfrm rot="16200000">
            <a:off x="4608576" y="1307592"/>
            <a:ext cx="228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D0000"/>
                </a:solidFill>
                <a:latin typeface="Noto Sans CJK SC"/>
              </a:rPr>
              <a:t>适配碎片</a:t>
            </a:r>
          </a:p>
        </p:txBody>
      </p:sp>
      <p:sp>
        <p:nvSpPr>
          <p:cNvPr id="115" name="TextBox 114"/>
          <p:cNvSpPr txBox="1"/>
          <p:nvPr/>
        </p:nvSpPr>
        <p:spPr>
          <a:xfrm rot="16200000">
            <a:off x="4608576" y="2432304"/>
            <a:ext cx="228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D0000"/>
                </a:solidFill>
                <a:latin typeface="Noto Sans CJK SC"/>
              </a:rPr>
              <a:t>性能漂移</a:t>
            </a:r>
          </a:p>
        </p:txBody>
      </p:sp>
      <p:sp>
        <p:nvSpPr>
          <p:cNvPr id="116" name="TextBox 115"/>
          <p:cNvSpPr txBox="1"/>
          <p:nvPr/>
        </p:nvSpPr>
        <p:spPr>
          <a:xfrm rot="16200000">
            <a:off x="4608576" y="3547872"/>
            <a:ext cx="228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D0000"/>
                </a:solidFill>
                <a:latin typeface="Noto Sans CJK SC"/>
              </a:rPr>
              <a:t>验证闭环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4864608" y="1069848"/>
            <a:ext cx="0" cy="3337560"/>
          </a:xfrm>
          <a:prstGeom prst="line">
            <a:avLst/>
          </a:prstGeom>
          <a:ln w="10160">
            <a:solidFill>
              <a:srgbClr val="5884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5010912" y="1298448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69" b="1">
                <a:solidFill>
                  <a:srgbClr val="000000"/>
                </a:solidFill>
                <a:latin typeface="Noto Sans CJK SC"/>
              </a:rPr>
              <a:t>不同后端暴露不同 kernel、dtype、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69" b="1">
                <a:solidFill>
                  <a:srgbClr val="000000"/>
                </a:solidFill>
                <a:latin typeface="Noto Sans CJK SC"/>
              </a:rPr>
              <a:t>shape 与图模式约束，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69" b="1">
                <a:solidFill>
                  <a:srgbClr val="000000"/>
                </a:solidFill>
                <a:latin typeface="Noto Sans CJK SC"/>
              </a:rPr>
              <a:t>统一 API 下仍需要后端能力画像。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010912" y="2423160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69" b="1">
                <a:solidFill>
                  <a:srgbClr val="000000"/>
                </a:solidFill>
                <a:latin typeface="Noto Sans CJK SC"/>
              </a:rPr>
              <a:t>GPU 上有效的融合、调度和 KV 策略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69" b="1">
                <a:solidFill>
                  <a:srgbClr val="000000"/>
                </a:solidFill>
                <a:latin typeface="Noto Sans CJK SC"/>
              </a:rPr>
              <a:t>在 NPU / DCU / XPU 上可能失效，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69" b="1">
                <a:solidFill>
                  <a:srgbClr val="000000"/>
                </a:solidFill>
                <a:latin typeface="Noto Sans CJK SC"/>
              </a:rPr>
              <a:t>优化收益不可直接迁移。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010912" y="3538728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69" b="1">
                <a:solidFill>
                  <a:srgbClr val="000000"/>
                </a:solidFill>
                <a:latin typeface="Noto Sans CJK SC"/>
              </a:rPr>
              <a:t>驱动、CANN/ROCm、编译器、依赖 pin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69" b="1">
                <a:solidFill>
                  <a:srgbClr val="000000"/>
                </a:solidFill>
                <a:latin typeface="Noto Sans CJK SC"/>
              </a:rPr>
              <a:t>与 benchmark 条件必须同时固定，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69" b="1">
                <a:solidFill>
                  <a:srgbClr val="000000"/>
                </a:solidFill>
                <a:latin typeface="Noto Sans CJK SC"/>
              </a:rPr>
              <a:t>否则 CI 通过也难以解释性能。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729984" y="1115568"/>
            <a:ext cx="1408176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10" b="1">
                <a:solidFill>
                  <a:srgbClr val="505A69"/>
                </a:solidFill>
                <a:latin typeface="Noto Sans CJK SC"/>
              </a:rPr>
              <a:t>backend capability matrix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729984" y="1280160"/>
            <a:ext cx="91440" cy="73152"/>
          </a:xfrm>
          <a:prstGeom prst="rect">
            <a:avLst/>
          </a:prstGeom>
          <a:solidFill>
            <a:srgbClr val="2B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867144" y="1280160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004304" y="1280160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141464" y="1280160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278624" y="1280160"/>
            <a:ext cx="91440" cy="73152"/>
          </a:xfrm>
          <a:prstGeom prst="rect">
            <a:avLst/>
          </a:prstGeom>
          <a:solidFill>
            <a:srgbClr val="AAD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415783" y="1280160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552944" y="1280160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690104" y="1280160"/>
            <a:ext cx="91440" cy="73152"/>
          </a:xfrm>
          <a:prstGeom prst="rect">
            <a:avLst/>
          </a:prstGeom>
          <a:solidFill>
            <a:srgbClr val="2B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7827264" y="1280160"/>
            <a:ext cx="91440" cy="73152"/>
          </a:xfrm>
          <a:prstGeom prst="rect">
            <a:avLst/>
          </a:prstGeom>
          <a:solidFill>
            <a:srgbClr val="AAD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729984" y="1389888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867144" y="1389888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004304" y="1389888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141464" y="1389888"/>
            <a:ext cx="91440" cy="73152"/>
          </a:xfrm>
          <a:prstGeom prst="rect">
            <a:avLst/>
          </a:prstGeom>
          <a:solidFill>
            <a:srgbClr val="AAD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278624" y="1389888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415783" y="1389888"/>
            <a:ext cx="91440" cy="73152"/>
          </a:xfrm>
          <a:prstGeom prst="rect">
            <a:avLst/>
          </a:prstGeom>
          <a:solidFill>
            <a:srgbClr val="2B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552944" y="1389888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7690104" y="1389888"/>
            <a:ext cx="91440" cy="73152"/>
          </a:xfrm>
          <a:prstGeom prst="rect">
            <a:avLst/>
          </a:prstGeom>
          <a:solidFill>
            <a:srgbClr val="AAD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7827264" y="1389888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729984" y="1499616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867144" y="1499616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004304" y="1499616"/>
            <a:ext cx="91440" cy="73152"/>
          </a:xfrm>
          <a:prstGeom prst="rect">
            <a:avLst/>
          </a:prstGeom>
          <a:solidFill>
            <a:srgbClr val="AAD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7141464" y="1499616"/>
            <a:ext cx="91440" cy="73152"/>
          </a:xfrm>
          <a:prstGeom prst="rect">
            <a:avLst/>
          </a:prstGeom>
          <a:solidFill>
            <a:srgbClr val="2B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7278624" y="1499616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7415783" y="1499616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7552944" y="1499616"/>
            <a:ext cx="91440" cy="73152"/>
          </a:xfrm>
          <a:prstGeom prst="rect">
            <a:avLst/>
          </a:prstGeom>
          <a:solidFill>
            <a:srgbClr val="AAD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7690104" y="1499616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7827264" y="1499616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729984" y="1609343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867144" y="1609343"/>
            <a:ext cx="91440" cy="73152"/>
          </a:xfrm>
          <a:prstGeom prst="rect">
            <a:avLst/>
          </a:prstGeom>
          <a:solidFill>
            <a:srgbClr val="2B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7004304" y="1609343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141464" y="1609343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7278624" y="1609343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415783" y="1609343"/>
            <a:ext cx="91440" cy="73152"/>
          </a:xfrm>
          <a:prstGeom prst="rect">
            <a:avLst/>
          </a:prstGeom>
          <a:solidFill>
            <a:srgbClr val="AAD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552944" y="1609343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7690104" y="1609343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7827264" y="1609343"/>
            <a:ext cx="91440" cy="73152"/>
          </a:xfrm>
          <a:prstGeom prst="rect">
            <a:avLst/>
          </a:prstGeom>
          <a:solidFill>
            <a:srgbClr val="2B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729984" y="1719072"/>
            <a:ext cx="91440" cy="73152"/>
          </a:xfrm>
          <a:prstGeom prst="rect">
            <a:avLst/>
          </a:prstGeom>
          <a:solidFill>
            <a:srgbClr val="AAD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867144" y="1719072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004304" y="1719072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7141464" y="1719072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7278624" y="1719072"/>
            <a:ext cx="91440" cy="73152"/>
          </a:xfrm>
          <a:prstGeom prst="rect">
            <a:avLst/>
          </a:prstGeom>
          <a:solidFill>
            <a:srgbClr val="AAD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7415783" y="1719072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552944" y="1719072"/>
            <a:ext cx="91440" cy="73152"/>
          </a:xfrm>
          <a:prstGeom prst="rect">
            <a:avLst/>
          </a:prstGeom>
          <a:solidFill>
            <a:srgbClr val="2B7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690104" y="1719072"/>
            <a:ext cx="91440" cy="73152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827264" y="1719072"/>
            <a:ext cx="91440" cy="73152"/>
          </a:xfrm>
          <a:prstGeom prst="rect">
            <a:avLst/>
          </a:prstGeom>
          <a:solidFill>
            <a:srgbClr val="AAD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8065008" y="1261872"/>
            <a:ext cx="329184" cy="54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50" b="0">
                <a:solidFill>
                  <a:srgbClr val="505A69"/>
                </a:solidFill>
                <a:latin typeface="Noto Sans CJK SC"/>
              </a:rPr>
              <a:t>dtype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065008" y="1371600"/>
            <a:ext cx="329184" cy="54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50" b="0">
                <a:solidFill>
                  <a:srgbClr val="505A69"/>
                </a:solidFill>
                <a:latin typeface="Noto Sans CJK SC"/>
              </a:rPr>
              <a:t>shape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065008" y="1481328"/>
            <a:ext cx="329184" cy="54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50" b="0">
                <a:solidFill>
                  <a:srgbClr val="505A69"/>
                </a:solidFill>
                <a:latin typeface="Noto Sans CJK SC"/>
              </a:rPr>
              <a:t>graph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065008" y="1591055"/>
            <a:ext cx="329184" cy="54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50" b="0">
                <a:solidFill>
                  <a:srgbClr val="505A69"/>
                </a:solidFill>
                <a:latin typeface="Noto Sans CJK SC"/>
              </a:rPr>
              <a:t>comm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065008" y="1700784"/>
            <a:ext cx="329184" cy="54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50" b="0">
                <a:solidFill>
                  <a:srgbClr val="505A69"/>
                </a:solidFill>
                <a:latin typeface="Noto Sans CJK SC"/>
              </a:rPr>
              <a:t>op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720840" y="2436876"/>
            <a:ext cx="438912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500" b="1">
                <a:solidFill>
                  <a:srgbClr val="4682D2"/>
                </a:solidFill>
                <a:latin typeface="Noto Sans CJK SC"/>
              </a:rPr>
              <a:t>GPU path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7242048" y="2468880"/>
            <a:ext cx="118872" cy="82296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7424927" y="2468880"/>
            <a:ext cx="118872" cy="82296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>
            <a:off x="7360920" y="2510028"/>
            <a:ext cx="64007" cy="0"/>
          </a:xfrm>
          <a:prstGeom prst="line">
            <a:avLst/>
          </a:prstGeom>
          <a:ln w="10160">
            <a:solidFill>
              <a:srgbClr val="468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Rounded Rectangle 175"/>
          <p:cNvSpPr/>
          <p:nvPr/>
        </p:nvSpPr>
        <p:spPr>
          <a:xfrm>
            <a:off x="7607808" y="2468880"/>
            <a:ext cx="118872" cy="82296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7" name="Connector 176"/>
          <p:cNvCxnSpPr/>
          <p:nvPr/>
        </p:nvCxnSpPr>
        <p:spPr>
          <a:xfrm>
            <a:off x="7543800" y="2510028"/>
            <a:ext cx="64008" cy="0"/>
          </a:xfrm>
          <a:prstGeom prst="line">
            <a:avLst/>
          </a:prstGeom>
          <a:ln w="10160">
            <a:solidFill>
              <a:srgbClr val="468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Rounded Rectangle 177"/>
          <p:cNvSpPr/>
          <p:nvPr/>
        </p:nvSpPr>
        <p:spPr>
          <a:xfrm>
            <a:off x="7790688" y="2468880"/>
            <a:ext cx="118872" cy="82296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9" name="Connector 178"/>
          <p:cNvCxnSpPr/>
          <p:nvPr/>
        </p:nvCxnSpPr>
        <p:spPr>
          <a:xfrm>
            <a:off x="7726680" y="2510028"/>
            <a:ext cx="64008" cy="0"/>
          </a:xfrm>
          <a:prstGeom prst="line">
            <a:avLst/>
          </a:prstGeom>
          <a:ln w="10160">
            <a:solidFill>
              <a:srgbClr val="BE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ounded Rectangle 179"/>
          <p:cNvSpPr/>
          <p:nvPr/>
        </p:nvSpPr>
        <p:spPr>
          <a:xfrm>
            <a:off x="7973568" y="2468880"/>
            <a:ext cx="118872" cy="82296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1" name="Connector 180"/>
          <p:cNvCxnSpPr/>
          <p:nvPr/>
        </p:nvCxnSpPr>
        <p:spPr>
          <a:xfrm>
            <a:off x="7909560" y="2510028"/>
            <a:ext cx="64008" cy="0"/>
          </a:xfrm>
          <a:prstGeom prst="line">
            <a:avLst/>
          </a:prstGeom>
          <a:ln w="10160">
            <a:solidFill>
              <a:srgbClr val="BE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6720840" y="2619756"/>
            <a:ext cx="438912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500" b="1">
                <a:solidFill>
                  <a:srgbClr val="008C96"/>
                </a:solidFill>
                <a:latin typeface="Noto Sans CJK SC"/>
              </a:rPr>
              <a:t>NPU path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7242048" y="2651760"/>
            <a:ext cx="118872" cy="82296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7424927" y="2651760"/>
            <a:ext cx="118872" cy="82296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>
            <a:off x="7360920" y="2692908"/>
            <a:ext cx="64007" cy="0"/>
          </a:xfrm>
          <a:prstGeom prst="line">
            <a:avLst/>
          </a:prstGeom>
          <a:ln w="10160">
            <a:solidFill>
              <a:srgbClr val="00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Rounded Rectangle 185"/>
          <p:cNvSpPr/>
          <p:nvPr/>
        </p:nvSpPr>
        <p:spPr>
          <a:xfrm>
            <a:off x="7607808" y="2651760"/>
            <a:ext cx="118872" cy="82296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>
            <a:off x="7543800" y="2692908"/>
            <a:ext cx="64008" cy="0"/>
          </a:xfrm>
          <a:prstGeom prst="line">
            <a:avLst/>
          </a:prstGeom>
          <a:ln w="10160">
            <a:solidFill>
              <a:srgbClr val="00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Rounded Rectangle 187"/>
          <p:cNvSpPr/>
          <p:nvPr/>
        </p:nvSpPr>
        <p:spPr>
          <a:xfrm>
            <a:off x="7790688" y="2651760"/>
            <a:ext cx="118872" cy="82296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>
            <a:off x="7726680" y="2692908"/>
            <a:ext cx="64008" cy="0"/>
          </a:xfrm>
          <a:prstGeom prst="line">
            <a:avLst/>
          </a:prstGeom>
          <a:ln w="10160">
            <a:solidFill>
              <a:srgbClr val="00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Rounded Rectangle 189"/>
          <p:cNvSpPr/>
          <p:nvPr/>
        </p:nvSpPr>
        <p:spPr>
          <a:xfrm>
            <a:off x="7973568" y="2651760"/>
            <a:ext cx="118872" cy="82296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>
            <a:off x="7909560" y="2692908"/>
            <a:ext cx="64008" cy="0"/>
          </a:xfrm>
          <a:prstGeom prst="line">
            <a:avLst/>
          </a:prstGeom>
          <a:ln w="10160">
            <a:solidFill>
              <a:srgbClr val="BE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6720840" y="2802636"/>
            <a:ext cx="438912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500" b="1">
                <a:solidFill>
                  <a:srgbClr val="2DA055"/>
                </a:solidFill>
                <a:latin typeface="Noto Sans CJK SC"/>
              </a:rPr>
              <a:t>XPU path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7242048" y="2834640"/>
            <a:ext cx="118872" cy="82296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ounded Rectangle 193"/>
          <p:cNvSpPr/>
          <p:nvPr/>
        </p:nvSpPr>
        <p:spPr>
          <a:xfrm>
            <a:off x="7424927" y="2834640"/>
            <a:ext cx="118872" cy="82296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>
            <a:off x="7360920" y="2875788"/>
            <a:ext cx="64007" cy="0"/>
          </a:xfrm>
          <a:prstGeom prst="line">
            <a:avLst/>
          </a:prstGeom>
          <a:ln w="10160">
            <a:solidFill>
              <a:srgbClr val="2DA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Rounded Rectangle 195"/>
          <p:cNvSpPr/>
          <p:nvPr/>
        </p:nvSpPr>
        <p:spPr>
          <a:xfrm>
            <a:off x="7607808" y="2834640"/>
            <a:ext cx="118872" cy="82296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>
            <a:off x="7543800" y="2875788"/>
            <a:ext cx="64008" cy="0"/>
          </a:xfrm>
          <a:prstGeom prst="line">
            <a:avLst/>
          </a:prstGeom>
          <a:ln w="10160">
            <a:solidFill>
              <a:srgbClr val="2DA0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Rounded Rectangle 197"/>
          <p:cNvSpPr/>
          <p:nvPr/>
        </p:nvSpPr>
        <p:spPr>
          <a:xfrm>
            <a:off x="7790688" y="2834640"/>
            <a:ext cx="118872" cy="82296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>
            <a:off x="7726680" y="2875788"/>
            <a:ext cx="64008" cy="0"/>
          </a:xfrm>
          <a:prstGeom prst="line">
            <a:avLst/>
          </a:prstGeom>
          <a:ln w="10160">
            <a:solidFill>
              <a:srgbClr val="BE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Rounded Rectangle 199"/>
          <p:cNvSpPr/>
          <p:nvPr/>
        </p:nvSpPr>
        <p:spPr>
          <a:xfrm>
            <a:off x="7973568" y="2834640"/>
            <a:ext cx="118872" cy="82296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>
            <a:off x="7909560" y="2875788"/>
            <a:ext cx="64008" cy="0"/>
          </a:xfrm>
          <a:prstGeom prst="line">
            <a:avLst/>
          </a:prstGeom>
          <a:ln w="10160">
            <a:solidFill>
              <a:srgbClr val="BE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1"/>
          <p:cNvSpPr txBox="1"/>
          <p:nvPr/>
        </p:nvSpPr>
        <p:spPr>
          <a:xfrm>
            <a:off x="6912864" y="3090672"/>
            <a:ext cx="1261872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" b="0">
                <a:solidFill>
                  <a:srgbClr val="505A69"/>
                </a:solidFill>
                <a:latin typeface="Noto Sans CJK SC"/>
              </a:rPr>
              <a:t>operator fusion / scheduling / memory policy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6693408" y="3657600"/>
            <a:ext cx="365760" cy="182880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720840" y="3707891"/>
            <a:ext cx="310896" cy="64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" b="1">
                <a:solidFill>
                  <a:srgbClr val="082769"/>
                </a:solidFill>
                <a:latin typeface="Noto Sans CJK SC"/>
              </a:rPr>
              <a:t>Env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7150608" y="3657600"/>
            <a:ext cx="365760" cy="182880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7178040" y="3707891"/>
            <a:ext cx="310896" cy="64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" b="1">
                <a:solidFill>
                  <a:srgbClr val="082769"/>
                </a:solidFill>
                <a:latin typeface="Noto Sans CJK SC"/>
              </a:rPr>
              <a:t>Build</a:t>
            </a:r>
          </a:p>
        </p:txBody>
      </p:sp>
      <p:cxnSp>
        <p:nvCxnSpPr>
          <p:cNvPr id="207" name="Connector 206"/>
          <p:cNvCxnSpPr/>
          <p:nvPr/>
        </p:nvCxnSpPr>
        <p:spPr>
          <a:xfrm>
            <a:off x="7059168" y="3749039"/>
            <a:ext cx="91440" cy="0"/>
          </a:xfrm>
          <a:prstGeom prst="line">
            <a:avLst/>
          </a:prstGeom>
          <a:ln w="1143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Rounded Rectangle 207"/>
          <p:cNvSpPr/>
          <p:nvPr/>
        </p:nvSpPr>
        <p:spPr>
          <a:xfrm>
            <a:off x="7616952" y="3657600"/>
            <a:ext cx="365760" cy="182880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7644383" y="3707891"/>
            <a:ext cx="310896" cy="64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" b="1">
                <a:solidFill>
                  <a:srgbClr val="082769"/>
                </a:solidFill>
                <a:latin typeface="Noto Sans CJK SC"/>
              </a:rPr>
              <a:t>Smoke</a:t>
            </a:r>
          </a:p>
        </p:txBody>
      </p:sp>
      <p:cxnSp>
        <p:nvCxnSpPr>
          <p:cNvPr id="210" name="Connector 209"/>
          <p:cNvCxnSpPr/>
          <p:nvPr/>
        </p:nvCxnSpPr>
        <p:spPr>
          <a:xfrm>
            <a:off x="7516368" y="3749039"/>
            <a:ext cx="100584" cy="0"/>
          </a:xfrm>
          <a:prstGeom prst="line">
            <a:avLst/>
          </a:prstGeom>
          <a:ln w="1143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Rounded Rectangle 210"/>
          <p:cNvSpPr/>
          <p:nvPr/>
        </p:nvSpPr>
        <p:spPr>
          <a:xfrm>
            <a:off x="8092440" y="3657600"/>
            <a:ext cx="365760" cy="182880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8119871" y="3707891"/>
            <a:ext cx="310896" cy="64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" b="1">
                <a:solidFill>
                  <a:srgbClr val="082769"/>
                </a:solidFill>
                <a:latin typeface="Noto Sans CJK SC"/>
              </a:rPr>
              <a:t>Bench</a:t>
            </a:r>
          </a:p>
        </p:txBody>
      </p:sp>
      <p:cxnSp>
        <p:nvCxnSpPr>
          <p:cNvPr id="213" name="Connector 212"/>
          <p:cNvCxnSpPr/>
          <p:nvPr/>
        </p:nvCxnSpPr>
        <p:spPr>
          <a:xfrm>
            <a:off x="7982712" y="3749039"/>
            <a:ext cx="109728" cy="0"/>
          </a:xfrm>
          <a:prstGeom prst="line">
            <a:avLst/>
          </a:prstGeom>
          <a:ln w="1143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Rounded Rectangle 213"/>
          <p:cNvSpPr/>
          <p:nvPr/>
        </p:nvSpPr>
        <p:spPr>
          <a:xfrm>
            <a:off x="6903720" y="4005072"/>
            <a:ext cx="1298448" cy="146304"/>
          </a:xfrm>
          <a:prstGeom prst="roundRect">
            <a:avLst/>
          </a:prstGeom>
          <a:solidFill>
            <a:srgbClr val="FFEFDA"/>
          </a:solidFill>
          <a:ln w="11430">
            <a:solidFill>
              <a:srgbClr val="EB8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6949440" y="4046220"/>
            <a:ext cx="1207008" cy="54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09" b="1">
                <a:solidFill>
                  <a:srgbClr val="EB8F22"/>
                </a:solidFill>
                <a:latin typeface="Noto Sans CJK SC"/>
              </a:rPr>
              <a:t>version pins + hardware metadata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201168" y="4526280"/>
            <a:ext cx="4041648" cy="393192"/>
          </a:xfrm>
          <a:prstGeom prst="roundRect">
            <a:avLst/>
          </a:prstGeom>
          <a:solidFill>
            <a:srgbClr val="082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ounded Rectangle 216"/>
          <p:cNvSpPr/>
          <p:nvPr/>
        </p:nvSpPr>
        <p:spPr>
          <a:xfrm>
            <a:off x="4480560" y="4526280"/>
            <a:ext cx="4389120" cy="393192"/>
          </a:xfrm>
          <a:prstGeom prst="roundRect">
            <a:avLst/>
          </a:prstGeom>
          <a:solidFill>
            <a:srgbClr val="082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402336" y="4608576"/>
            <a:ext cx="36576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Noto Sans CJK SC"/>
              </a:rPr>
              <a:t>国产架构差异正在进入推理系统的核心执行路径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645152" y="4608576"/>
            <a:ext cx="4041648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60" b="1">
                <a:solidFill>
                  <a:srgbClr val="FFFFFF"/>
                </a:solidFill>
                <a:latin typeface="Noto Sans CJK SC"/>
              </a:rPr>
              <a:t>新平台引入新的工程挑战：</a:t>
            </a:r>
            <a:r>
              <a:rPr sz="1060" b="1">
                <a:solidFill>
                  <a:srgbClr val="FFF100"/>
                </a:solidFill>
                <a:latin typeface="Noto Sans CJK SC"/>
              </a:rPr>
              <a:t>后端解耦、算子补齐、跨栈验证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8759952" y="4855464"/>
            <a:ext cx="164592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320" b="0">
                <a:solidFill>
                  <a:srgbClr val="1243A3"/>
                </a:solidFill>
                <a:latin typeface="Noto Sans CJK SC"/>
              </a:rPr>
              <a:t>Page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