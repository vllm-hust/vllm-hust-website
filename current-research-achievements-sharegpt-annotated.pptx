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x-clipboard-caabde12-459d-462d-9ba3-3af488a56b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43400" y="1847088"/>
            <a:ext cx="1078992" cy="384048"/>
          </a:xfrm>
          <a:prstGeom prst="roundRect">
            <a:avLst/>
          </a:prstGeom>
          <a:solidFill>
            <a:srgbClr val="FFF2CC"/>
          </a:solidFill>
          <a:ln w="1397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19" b="1">
                <a:solidFill>
                  <a:srgbClr val="5C4412"/>
                </a:solidFill>
                <a:latin typeface="Microsoft YaHei"/>
              </a:rPr>
              <a:t>基线配置对齐
消除评测漂移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645152" y="2231136"/>
            <a:ext cx="146304" cy="1938527"/>
          </a:xfrm>
          <a:prstGeom prst="line">
            <a:avLst/>
          </a:prstGeom>
          <a:ln w="15875">
            <a:solidFill>
              <a:srgbClr val="D69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559552" y="1865376"/>
            <a:ext cx="1225296" cy="384048"/>
          </a:xfrm>
          <a:prstGeom prst="roundRect">
            <a:avLst/>
          </a:prstGeom>
          <a:solidFill>
            <a:srgbClr val="DAEFFF"/>
          </a:solidFill>
          <a:ln w="1397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19" b="1">
                <a:solidFill>
                  <a:srgbClr val="155486"/>
                </a:solidFill>
                <a:latin typeface="Microsoft YaHei"/>
              </a:rPr>
              <a:t>场景化评测修复
TTFT异常回收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44768" y="2249424"/>
            <a:ext cx="146304" cy="1645920"/>
          </a:xfrm>
          <a:prstGeom prst="line">
            <a:avLst/>
          </a:prstGeom>
          <a:ln w="15875">
            <a:solidFill>
              <a:srgbClr val="2980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976872" y="1865376"/>
            <a:ext cx="1115568" cy="384048"/>
          </a:xfrm>
          <a:prstGeom prst="roundRect">
            <a:avLst/>
          </a:prstGeom>
          <a:solidFill>
            <a:srgbClr val="DDF7E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19" b="1">
                <a:solidFill>
                  <a:srgbClr val="186A3B"/>
                </a:solidFill>
                <a:latin typeface="Microsoft YaHei"/>
              </a:rPr>
              <a:t>图模式路径打通
吞吐跃升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79792" y="2249424"/>
            <a:ext cx="128016" cy="768096"/>
          </a:xfrm>
          <a:prstGeom prst="line">
            <a:avLst/>
          </a:prstGeom>
          <a:ln w="15875">
            <a:solidFill>
              <a:srgbClr val="27AE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348472" y="1865376"/>
            <a:ext cx="1143000" cy="384048"/>
          </a:xfrm>
          <a:prstGeom prst="roundRect">
            <a:avLst/>
          </a:prstGeom>
          <a:solidFill>
            <a:srgbClr val="EBE2FF"/>
          </a:solidFill>
          <a:ln w="1397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19" b="1">
                <a:solidFill>
                  <a:srgbClr val="4A3680"/>
                </a:solidFill>
                <a:latin typeface="Microsoft YaHei"/>
              </a:rPr>
              <a:t>减少CPU/Python
物化开销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51392" y="2249424"/>
            <a:ext cx="219456" cy="1298448"/>
          </a:xfrm>
          <a:prstGeom prst="line">
            <a:avLst/>
          </a:prstGeom>
          <a:ln w="15875">
            <a:solidFill>
              <a:srgbClr val="7E57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57232" y="1865376"/>
            <a:ext cx="1124712" cy="384048"/>
          </a:xfrm>
          <a:prstGeom prst="roundRect">
            <a:avLst/>
          </a:prstGeom>
          <a:solidFill>
            <a:srgbClr val="FFE2E2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19" b="1">
                <a:solidFill>
                  <a:srgbClr val="80241C"/>
                </a:solidFill>
                <a:latin typeface="Microsoft YaHei"/>
              </a:rPr>
              <a:t>最新main平台期
约204 tok/s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20" y="2249424"/>
            <a:ext cx="365760" cy="694944"/>
          </a:xfrm>
          <a:prstGeom prst="line">
            <a:avLst/>
          </a:prstGeom>
          <a:ln w="15875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60520" y="6016752"/>
            <a:ext cx="7406640" cy="310896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869" b="1">
                <a:solidFill>
                  <a:srgbClr val="485460"/>
                </a:solidFill>
                <a:latin typeface="Microsoft YaHei"/>
              </a:rPr>
              <a:t>讲述口径：性能提升主要来自“配置可比 → 评测修复 → 图/执行路径优化”；最新补测显示 sharegpt-online 已进入稳定平台期，后续重点转向 decode/TBT。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