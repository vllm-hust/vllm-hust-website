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1F5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39319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F53A9"/>
                </a:solidFill>
                <a:latin typeface="Noto Sans CJK SC"/>
              </a:rPr>
              <a:t>当前研究成果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914400"/>
            <a:ext cx="2743200" cy="5257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560320" cy="393192"/>
          </a:xfrm>
          <a:prstGeom prst="roundRect">
            <a:avLst/>
          </a:prstGeom>
          <a:solidFill>
            <a:srgbClr val="1F5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Noto Sans CJK SC"/>
              </a:rPr>
              <a:t>论文与集成成果</a:t>
            </a:r>
          </a:p>
        </p:txBody>
      </p:sp>
      <p:sp>
        <p:nvSpPr>
          <p:cNvPr id="6" name="Oval 5"/>
          <p:cNvSpPr/>
          <p:nvPr/>
        </p:nvSpPr>
        <p:spPr>
          <a:xfrm>
            <a:off x="384048" y="1600200"/>
            <a:ext cx="73152" cy="73152"/>
          </a:xfrm>
          <a:prstGeom prst="ellipse">
            <a:avLst/>
          </a:prstGeom>
          <a:solidFill>
            <a:srgbClr val="CB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36192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111827"/>
                </a:solidFill>
                <a:latin typeface="Noto Sans CJK SC"/>
              </a:rPr>
              <a:t>发表论文 2 篇（SC2026）</a:t>
            </a:r>
          </a:p>
          <a:p>
            <a:r>
              <a:rPr sz="980">
                <a:solidFill>
                  <a:srgbClr val="334155"/>
                </a:solidFill>
                <a:latin typeface="Noto Sans CJK SC"/>
              </a:rPr>
              <a:t>其中 1 篇已成功集成到 vllm-hust</a:t>
            </a:r>
          </a:p>
        </p:txBody>
      </p:sp>
      <p:sp>
        <p:nvSpPr>
          <p:cNvPr id="8" name="Oval 7"/>
          <p:cNvSpPr/>
          <p:nvPr/>
        </p:nvSpPr>
        <p:spPr>
          <a:xfrm>
            <a:off x="384048" y="2350008"/>
            <a:ext cx="73152" cy="73152"/>
          </a:xfrm>
          <a:prstGeom prst="ellipse">
            <a:avLst/>
          </a:prstGeom>
          <a:solidFill>
            <a:srgbClr val="CB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86000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111827"/>
                </a:solidFill>
                <a:latin typeface="Noto Sans CJK SC"/>
              </a:rPr>
              <a:t>前述 9 个技术点</a:t>
            </a:r>
          </a:p>
          <a:p>
            <a:r>
              <a:rPr sz="980">
                <a:solidFill>
                  <a:srgbClr val="334155"/>
                </a:solidFill>
                <a:latin typeface="Noto Sans CJK SC"/>
              </a:rPr>
              <a:t>已有 7 个已成功集成到核心仓库</a:t>
            </a:r>
          </a:p>
        </p:txBody>
      </p:sp>
      <p:sp>
        <p:nvSpPr>
          <p:cNvPr id="10" name="Oval 9"/>
          <p:cNvSpPr/>
          <p:nvPr/>
        </p:nvSpPr>
        <p:spPr>
          <a:xfrm>
            <a:off x="384048" y="3099815"/>
            <a:ext cx="73152" cy="73152"/>
          </a:xfrm>
          <a:prstGeom prst="ellipse">
            <a:avLst/>
          </a:prstGeom>
          <a:solidFill>
            <a:srgbClr val="CB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035808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111827"/>
                </a:solidFill>
                <a:latin typeface="Noto Sans CJK SC"/>
              </a:rPr>
              <a:t>正在完善高整体性能 PR</a:t>
            </a:r>
          </a:p>
          <a:p>
            <a:r>
              <a:rPr sz="980">
                <a:solidFill>
                  <a:srgbClr val="334155"/>
                </a:solidFill>
                <a:latin typeface="Noto Sans CJK SC"/>
              </a:rPr>
              <a:t>支撑国产算力低成本 Token 工厂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" y="3849624"/>
            <a:ext cx="73152" cy="73152"/>
          </a:xfrm>
          <a:prstGeom prst="ellipse">
            <a:avLst/>
          </a:prstGeom>
          <a:solidFill>
            <a:srgbClr val="CB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785615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111827"/>
                </a:solidFill>
                <a:latin typeface="Noto Sans CJK SC"/>
              </a:rPr>
              <a:t>撰写综述/邀请稿</a:t>
            </a:r>
          </a:p>
          <a:p>
            <a:r>
              <a:rPr sz="980">
                <a:solidFill>
                  <a:srgbClr val="334155"/>
                </a:solidFill>
                <a:latin typeface="Noto Sans CJK SC"/>
              </a:rPr>
              <a:t>面向国产算力推理引擎综述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" y="4599432"/>
            <a:ext cx="73152" cy="73152"/>
          </a:xfrm>
          <a:prstGeom prst="ellipse">
            <a:avLst/>
          </a:prstGeom>
          <a:solidFill>
            <a:srgbClr val="CB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535424"/>
            <a:ext cx="2267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" b="1">
                <a:solidFill>
                  <a:srgbClr val="111827"/>
                </a:solidFill>
                <a:latin typeface="Noto Sans CJK SC"/>
              </a:rPr>
              <a:t>获得举办 StateSys workshop</a:t>
            </a:r>
          </a:p>
          <a:p>
            <a:r>
              <a:rPr sz="980">
                <a:solidFill>
                  <a:srgbClr val="334155"/>
                </a:solidFill>
                <a:latin typeface="Noto Sans CJK SC"/>
              </a:rPr>
              <a:t>WATC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804672"/>
            <a:ext cx="8823960" cy="310896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性能排行榜展示（默认配置修正版）</a:t>
            </a:r>
          </a:p>
        </p:txBody>
      </p:sp>
      <p:pic>
        <p:nvPicPr>
          <p:cNvPr id="17" name="Picture 16" descr="multi_workload_default_config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234440"/>
            <a:ext cx="8915400" cy="33508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6327648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1F2937"/>
                </a:solidFill>
                <a:latin typeface="Arial"/>
              </a:rPr>
              <a:t>https://vllm-hust.sage.org.ai/leaderboard.html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B82F6"/>
                </a:solidFill>
                <a:latin typeface="Arial"/>
              </a:rPr>
              <a:t>Page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