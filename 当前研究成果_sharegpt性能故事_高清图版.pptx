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35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74320"/>
            <a:ext cx="3017520" cy="32004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2100" b="1">
                <a:solidFill>
                  <a:srgbClr val="0042B4"/>
                </a:solidFill>
                <a:latin typeface="Noto Sans CJK SC"/>
              </a:rPr>
              <a:t>当前研究成果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786384"/>
            <a:ext cx="3337560" cy="402336"/>
          </a:xfrm>
          <a:prstGeom prst="roundRect">
            <a:avLst/>
          </a:prstGeom>
          <a:solidFill>
            <a:srgbClr val="00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859536"/>
            <a:ext cx="3337560" cy="1828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SC"/>
              </a:rPr>
              <a:t>论文与集成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1261872"/>
            <a:ext cx="3337560" cy="5102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BECB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63040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发表论文2篇（SC2026），其中1篇已成功集成到 vllm-hust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93392"/>
            <a:ext cx="2743200" cy="640080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前述9个技术点有7个已经成功集成到 vllm-hust / vllm-ascend-hust，并显著提高整体性能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761488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43200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撰写《面向国产算力推理引擎综述》篇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291840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73552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撰写《中兴通讯技术》邀请稿1篇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822191"/>
            <a:ext cx="13716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300" b="1">
                <a:solidFill>
                  <a:srgbClr val="D20000"/>
                </a:solidFill>
                <a:latin typeface="Noto Sans CJK S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03904"/>
            <a:ext cx="2743200" cy="38404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l"/>
            <a:r>
              <a:rPr sz="1060" b="1">
                <a:solidFill>
                  <a:srgbClr val="1A202C"/>
                </a:solidFill>
                <a:latin typeface="Noto Sans CJK SC"/>
              </a:rPr>
              <a:t>获批举办第1届 StateSys workshop（w/ ATC 2026）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" y="5833872"/>
            <a:ext cx="3017520" cy="310896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BED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907024"/>
            <a:ext cx="2834640" cy="146304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780" b="1">
                <a:solidFill>
                  <a:srgbClr val="004C8C"/>
                </a:solidFill>
                <a:latin typeface="Noto Sans CJK SC"/>
              </a:rPr>
              <a:t>核心叙事：从“能跑”走向“高效图执行与状态路径优化”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13632" y="530352"/>
            <a:ext cx="7882127" cy="420624"/>
          </a:xfrm>
          <a:prstGeom prst="roundRect">
            <a:avLst/>
          </a:prstGeom>
          <a:solidFill>
            <a:srgbClr val="B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621792"/>
            <a:ext cx="7882127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Noto Sans CJK SC"/>
              </a:rPr>
              <a:t>性能排行榜展示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13632" y="1060704"/>
            <a:ext cx="7882127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6446520"/>
            <a:ext cx="4846320" cy="16459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919" b="0">
                <a:solidFill>
                  <a:srgbClr val="2D2D2D"/>
                </a:solidFill>
                <a:latin typeface="Noto Sans CJK SC"/>
              </a:rPr>
              <a:t>https://vllm-hust.sage.org.ai/leaderboard.html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8288" y="6473952"/>
            <a:ext cx="411480" cy="109728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r"/>
            <a:r>
              <a:rPr sz="550" b="0">
                <a:solidFill>
                  <a:srgbClr val="285AAA"/>
                </a:solidFill>
                <a:latin typeface="Noto Sans CJK SC"/>
              </a:rPr>
              <a:t>Page 20</a:t>
            </a:r>
          </a:p>
        </p:txBody>
      </p:sp>
      <p:pic>
        <p:nvPicPr>
          <p:cNvPr id="25" name="Picture 24" descr="sharegpt_story_linechart_high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179576"/>
            <a:ext cx="7498079" cy="459943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4206240" y="5806440"/>
            <a:ext cx="1920240" cy="310896"/>
          </a:xfrm>
          <a:prstGeom prst="roundRect">
            <a:avLst/>
          </a:prstGeom>
          <a:solidFill>
            <a:srgbClr val="EDF8FF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0" y="5888736"/>
            <a:ext cx="1920240" cy="1188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80" b="1">
                <a:solidFill>
                  <a:srgbClr val="1565A0"/>
                </a:solidFill>
                <a:latin typeface="Noto Sans CJK SC"/>
              </a:rPr>
              <a:t>图执行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806440"/>
            <a:ext cx="1920240" cy="310896"/>
          </a:xfrm>
          <a:prstGeom prst="roundRect">
            <a:avLst/>
          </a:prstGeom>
          <a:solidFill>
            <a:srgbClr val="EEFBF2"/>
          </a:solidFill>
          <a:ln w="12700">
            <a:solidFill>
              <a:srgbClr val="ABD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888736"/>
            <a:ext cx="1920240" cy="1188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80" b="1">
                <a:solidFill>
                  <a:srgbClr val="186A3B"/>
                </a:solidFill>
                <a:latin typeface="Noto Sans CJK SC"/>
              </a:rPr>
              <a:t>在线开销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5806440"/>
            <a:ext cx="2487168" cy="310896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F5CB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5888736"/>
            <a:ext cx="2487168" cy="118872"/>
          </a:xfrm>
          <a:prstGeom prst="rect">
            <a:avLst/>
          </a:prstGeom>
          <a:noFill/>
        </p:spPr>
        <p:txBody>
          <a:bodyPr wrap="square" lIns="27432" rIns="27432" tIns="9144" bIns="9144">
            <a:spAutoFit/>
          </a:bodyPr>
          <a:lstStyle/>
          <a:p>
            <a:pPr algn="ctr"/>
            <a:r>
              <a:rPr sz="880" b="1">
                <a:solidFill>
                  <a:srgbClr val="825C00"/>
                </a:solidFill>
                <a:latin typeface="Noto Sans CJK SC"/>
              </a:rPr>
              <a:t>调度/状态路径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